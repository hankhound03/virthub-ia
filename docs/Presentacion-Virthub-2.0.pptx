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FC1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4173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FC19F"/>
                </a:solidFill>
                <a:latin typeface="Segoe UI"/>
              </a:rPr>
              <a:t>UNIVERSIDAD TECNOLÓGICA DE TULA-TEPEJI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874519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7600" b="1">
                <a:solidFill>
                  <a:srgbClr val="F2F7F5"/>
                </a:solidFill>
                <a:latin typeface="Segoe UI Semibold"/>
              </a:rPr>
              <a:t>Virthub 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246120"/>
            <a:ext cx="93268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0">
                <a:solidFill>
                  <a:srgbClr val="3FC19F"/>
                </a:solidFill>
                <a:latin typeface="Segoe UI"/>
              </a:rPr>
              <a:t>Escritorios virtuales, foro y chat para estudiantes</a:t>
            </a:r>
          </a:p>
          <a:p>
            <a:pPr algn="l">
              <a:spcAft>
                <a:spcPts val="200"/>
              </a:spcAft>
            </a:pPr>
            <a:r>
              <a:rPr sz="2400" b="0">
                <a:solidFill>
                  <a:srgbClr val="3FC19F"/>
                </a:solidFill>
                <a:latin typeface="Segoe UI"/>
              </a:rPr>
              <a:t>que no pueden cambiar de computadora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617720"/>
            <a:ext cx="2926080" cy="45720"/>
          </a:xfrm>
          <a:prstGeom prst="rect">
            <a:avLst/>
          </a:prstGeom>
          <a:solidFill>
            <a:srgbClr val="1F6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89204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9FB4AE"/>
                </a:solidFill>
                <a:latin typeface="Segoe UI"/>
              </a:rPr>
              <a:t>Proyecto integrador  ·  Presentación técnica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9FB4AE"/>
                </a:solidFill>
                <a:latin typeface="Segoe UI"/>
              </a:rPr>
              <a:t>Francisco González  ·  Octubre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02920"/>
            <a:ext cx="82296" cy="566928"/>
          </a:xfrm>
          <a:prstGeom prst="rect">
            <a:avLst/>
          </a:prstGeom>
          <a:solidFill>
            <a:srgbClr val="3FC1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438912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2F7F5"/>
                </a:solidFill>
                <a:latin typeface="Segoe UI Semibold"/>
              </a:rPr>
              <a:t>El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6070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FB4AE"/>
                </a:solidFill>
                <a:latin typeface="Segoe UI"/>
              </a:rPr>
              <a:t>Lo que nos encontramos en el aula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26364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FB4AE"/>
                </a:solidFill>
                <a:latin typeface="Segoe U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783080"/>
            <a:ext cx="3383280" cy="3200400"/>
          </a:xfrm>
          <a:prstGeom prst="roundRect">
            <a:avLst>
              <a:gd name="adj" fmla="val 8000"/>
            </a:avLst>
          </a:prstGeom>
          <a:solidFill>
            <a:srgbClr val="132A26"/>
          </a:solidFill>
          <a:ln w="15875">
            <a:solidFill>
              <a:srgbClr val="E06C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1947672"/>
            <a:ext cx="298094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06C5E"/>
                </a:solidFill>
                <a:latin typeface="Segoe UI"/>
              </a:rPr>
              <a:t>Equipos viejos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2441448"/>
            <a:ext cx="2980944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2F7F5"/>
                </a:solidFill>
                <a:latin typeface="Segoe UI"/>
              </a:rPr>
              <a:t>Computadoras de hace más de diez años.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2F7F5"/>
                </a:solidFill>
                <a:latin typeface="Segoe UI"/>
              </a:rPr>
              <a:t>2 a 4 GB de memoria.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2F7F5"/>
                </a:solidFill>
                <a:latin typeface="Segoe UI"/>
              </a:rPr>
              <a:t>Procesadores Core 2 Duo o Atom.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783080"/>
            <a:ext cx="3383280" cy="3200400"/>
          </a:xfrm>
          <a:prstGeom prst="roundRect">
            <a:avLst>
              <a:gd name="adj" fmla="val 8000"/>
            </a:avLst>
          </a:prstGeom>
          <a:solidFill>
            <a:srgbClr val="132A26"/>
          </a:solidFill>
          <a:ln w="15875">
            <a:solidFill>
              <a:srgbClr val="E8A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7" y="1947672"/>
            <a:ext cx="298094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8A33D"/>
                </a:solidFill>
                <a:latin typeface="Segoe UI"/>
              </a:rPr>
              <a:t>Programas que no corren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7" y="2441448"/>
            <a:ext cx="2980944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2F7F5"/>
                </a:solidFill>
                <a:latin typeface="Segoe UI"/>
              </a:rPr>
              <a:t>Las prácticas piden herramientas pesadas.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2F7F5"/>
                </a:solidFill>
                <a:latin typeface="Segoe UI"/>
              </a:rPr>
              <a:t>No hay presupuesto para renovar equipos.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2F7F5"/>
                </a:solidFill>
                <a:latin typeface="Segoe UI"/>
              </a:rPr>
              <a:t>El estudiante se queda atrás por el hardware.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1783080"/>
            <a:ext cx="3383280" cy="3200400"/>
          </a:xfrm>
          <a:prstGeom prst="roundRect">
            <a:avLst>
              <a:gd name="adj" fmla="val 8000"/>
            </a:avLst>
          </a:prstGeom>
          <a:solidFill>
            <a:srgbClr val="132A26"/>
          </a:solidFill>
          <a:ln w="15875">
            <a:solidFill>
              <a:srgbClr val="4A9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02168" y="1947672"/>
            <a:ext cx="298094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4A9FE0"/>
                </a:solidFill>
                <a:latin typeface="Segoe UI"/>
              </a:rPr>
              <a:t>Consecuencia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2168" y="2441448"/>
            <a:ext cx="2980944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2F7F5"/>
                </a:solidFill>
                <a:latin typeface="Segoe UI"/>
              </a:rPr>
              <a:t>Se abandona la práctica.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2F7F5"/>
                </a:solidFill>
                <a:latin typeface="Segoe UI"/>
              </a:rPr>
              <a:t>Se pierde el curso.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2F7F5"/>
                </a:solidFill>
                <a:latin typeface="Segoe UI"/>
              </a:rPr>
              <a:t>Y a veces, la carrera.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2578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3FC19F"/>
                </a:solidFill>
                <a:latin typeface="Segoe UI"/>
              </a:rPr>
              <a:t>El talento no debería depender del equipo que cada quien puede pagar.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02920"/>
            <a:ext cx="82296" cy="566928"/>
          </a:xfrm>
          <a:prstGeom prst="rect">
            <a:avLst/>
          </a:prstGeom>
          <a:solidFill>
            <a:srgbClr val="3FC1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438912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2F7F5"/>
                </a:solidFill>
                <a:latin typeface="Segoe UI Semibold"/>
              </a:rPr>
              <a:t>La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6070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FB4AE"/>
                </a:solidFill>
                <a:latin typeface="Segoe UI"/>
              </a:rPr>
              <a:t>¿Y si el trabajo pesado no ocurre en tu computadora?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26364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FB4AE"/>
                </a:solidFill>
                <a:latin typeface="Segoe U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73736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F2F7F5"/>
                </a:solidFill>
                <a:latin typeface="Segoe UI"/>
              </a:rPr>
              <a:t>Virthub lleva la universidad al navegador. El equipo solo dibuja la pantalla.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51760"/>
            <a:ext cx="10332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3FC19F"/>
                </a:solidFill>
                <a:latin typeface="Segoe UI"/>
              </a:rPr>
              <a:t>▸  </a:t>
            </a:r>
            <a:r>
              <a:rPr sz="1900">
                <a:solidFill>
                  <a:srgbClr val="F2F7F5"/>
                </a:solidFill>
                <a:latin typeface="Segoe UI"/>
              </a:rPr>
              <a:t>Todo el procesamiento ocurre en el servidor.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3FC19F"/>
                </a:solidFill>
                <a:latin typeface="Segoe UI"/>
              </a:rPr>
              <a:t>▸  </a:t>
            </a:r>
            <a:r>
              <a:rPr sz="1900">
                <a:solidFill>
                  <a:srgbClr val="F2F7F5"/>
                </a:solidFill>
                <a:latin typeface="Segoe UI"/>
              </a:rPr>
              <a:t>El estudiante usa programas actuales desde cualquier equipo.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3FC19F"/>
                </a:solidFill>
                <a:latin typeface="Segoe UI"/>
              </a:rPr>
              <a:t>▸  </a:t>
            </a:r>
            <a:r>
              <a:rPr sz="1900">
                <a:solidFill>
                  <a:srgbClr val="F2F7F5"/>
                </a:solidFill>
                <a:latin typeface="Segoe UI"/>
              </a:rPr>
              <a:t>La misma cuenta sirve para el foro, el chat y el escritorio.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3FC19F"/>
                </a:solidFill>
                <a:latin typeface="Segoe UI"/>
              </a:rPr>
              <a:t>▸  </a:t>
            </a:r>
            <a:r>
              <a:rPr sz="1900">
                <a:solidFill>
                  <a:srgbClr val="F2F7F5"/>
                </a:solidFill>
                <a:latin typeface="Segoe UI"/>
              </a:rPr>
              <a:t>Funciona en Windows antiguo, Linux ligero o un equipo prestado.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3FC19F"/>
                </a:solidFill>
                <a:latin typeface="Segoe UI"/>
              </a:rPr>
              <a:t>▸  </a:t>
            </a:r>
            <a:r>
              <a:rPr sz="1900">
                <a:solidFill>
                  <a:srgbClr val="F2F7F5"/>
                </a:solidFill>
                <a:latin typeface="Segoe UI"/>
              </a:rPr>
              <a:t>Sin instalar nada: solo un navegador.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02920"/>
            <a:ext cx="82296" cy="566928"/>
          </a:xfrm>
          <a:prstGeom prst="rect">
            <a:avLst/>
          </a:prstGeom>
          <a:solidFill>
            <a:srgbClr val="3FC1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438912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2F7F5"/>
                </a:solidFill>
                <a:latin typeface="Segoe UI Semibold"/>
              </a:rPr>
              <a:t>Arquitectura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6070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FB4AE"/>
                </a:solidFill>
                <a:latin typeface="Segoe UI"/>
              </a:rPr>
              <a:t>Servicios independientes, todos en Docker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26364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FB4AE"/>
                </a:solidFill>
                <a:latin typeface="Segoe U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2103120" cy="1371600"/>
          </a:xfrm>
          <a:prstGeom prst="roundRect">
            <a:avLst>
              <a:gd name="adj" fmla="val 8000"/>
            </a:avLst>
          </a:prstGeom>
          <a:solidFill>
            <a:srgbClr val="132A26"/>
          </a:solidFill>
          <a:ln w="15875">
            <a:solidFill>
              <a:srgbClr val="9FB4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130552"/>
            <a:ext cx="170078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9FB4AE"/>
                </a:solidFill>
                <a:latin typeface="Segoe UI"/>
              </a:rPr>
              <a:t>Navegador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624328"/>
            <a:ext cx="170078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F2F7F5"/>
                </a:solidFill>
                <a:latin typeface="Segoe UI"/>
              </a:rPr>
              <a:t>Solo dibuja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F2F7F5"/>
                </a:solidFill>
                <a:latin typeface="Segoe UI"/>
              </a:rPr>
              <a:t>la pantalla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788920" y="2487168"/>
            <a:ext cx="685800" cy="320040"/>
          </a:xfrm>
          <a:prstGeom prst="rightArrow">
            <a:avLst/>
          </a:prstGeom>
          <a:solidFill>
            <a:srgbClr val="3FC1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66160" y="1965960"/>
            <a:ext cx="2286000" cy="1371600"/>
          </a:xfrm>
          <a:prstGeom prst="roundRect">
            <a:avLst>
              <a:gd name="adj" fmla="val 8000"/>
            </a:avLst>
          </a:prstGeom>
          <a:solidFill>
            <a:srgbClr val="132A26"/>
          </a:solidFill>
          <a:ln w="15875">
            <a:solidFill>
              <a:srgbClr val="3FC1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67328" y="2130552"/>
            <a:ext cx="188366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3FC19F"/>
                </a:solidFill>
                <a:latin typeface="Segoe UI"/>
              </a:rPr>
              <a:t>Caddy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7328" y="2624328"/>
            <a:ext cx="188366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F2F7F5"/>
                </a:solidFill>
                <a:latin typeface="Segoe UI"/>
              </a:rPr>
              <a:t>Proxy inverso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F2F7F5"/>
                </a:solidFill>
                <a:latin typeface="Segoe UI"/>
              </a:rPr>
              <a:t>Control de acceso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43600" y="2487168"/>
            <a:ext cx="685800" cy="320040"/>
          </a:xfrm>
          <a:prstGeom prst="rightArrow">
            <a:avLst/>
          </a:prstGeom>
          <a:solidFill>
            <a:srgbClr val="3FC1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20840" y="196596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132A26"/>
          </a:solidFill>
          <a:ln w="15875">
            <a:solidFill>
              <a:srgbClr val="3FC1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22007" y="2130552"/>
            <a:ext cx="197510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3FC19F"/>
                </a:solidFill>
                <a:latin typeface="Segoe UI"/>
              </a:rPr>
              <a:t>Aplicación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22007" y="2624328"/>
            <a:ext cx="197510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F2F7F5"/>
                </a:solidFill>
                <a:latin typeface="Segoe UI"/>
              </a:rPr>
              <a:t>Laravel 13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F2F7F5"/>
                </a:solidFill>
                <a:latin typeface="Segoe UI"/>
              </a:rPr>
              <a:t>PHP 8.4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3977639"/>
            <a:ext cx="2377440" cy="1463040"/>
          </a:xfrm>
          <a:prstGeom prst="roundRect">
            <a:avLst>
              <a:gd name="adj" fmla="val 8000"/>
            </a:avLst>
          </a:prstGeom>
          <a:solidFill>
            <a:srgbClr val="132A26"/>
          </a:solidFill>
          <a:ln w="15875">
            <a:solidFill>
              <a:srgbClr val="4A9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9848" y="4142231"/>
            <a:ext cx="197510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4A9FE0"/>
                </a:solidFill>
                <a:latin typeface="Segoe UI"/>
              </a:rPr>
              <a:t>MariaDB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4636007"/>
            <a:ext cx="197510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2F7F5"/>
                </a:solidFill>
                <a:latin typeface="Segoe UI"/>
              </a:rPr>
              <a:t>Usuarios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2F7F5"/>
                </a:solidFill>
                <a:latin typeface="Segoe UI"/>
              </a:rPr>
              <a:t>Publicaciones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20440" y="3977639"/>
            <a:ext cx="2377440" cy="1463040"/>
          </a:xfrm>
          <a:prstGeom prst="roundRect">
            <a:avLst>
              <a:gd name="adj" fmla="val 8000"/>
            </a:avLst>
          </a:prstGeom>
          <a:solidFill>
            <a:srgbClr val="132A26"/>
          </a:solidFill>
          <a:ln w="15875">
            <a:solidFill>
              <a:srgbClr val="E8A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21608" y="4142231"/>
            <a:ext cx="197510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8A33D"/>
                </a:solidFill>
                <a:latin typeface="Segoe UI"/>
              </a:rPr>
              <a:t>Sherlock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21608" y="4636007"/>
            <a:ext cx="197510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2F7F5"/>
                </a:solidFill>
                <a:latin typeface="Segoe UI"/>
              </a:rPr>
              <a:t>Moderación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2F7F5"/>
                </a:solidFill>
                <a:latin typeface="Segoe UI"/>
              </a:rPr>
              <a:t>de imágenes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977639"/>
            <a:ext cx="2377440" cy="1463040"/>
          </a:xfrm>
          <a:prstGeom prst="roundRect">
            <a:avLst>
              <a:gd name="adj" fmla="val 8000"/>
            </a:avLst>
          </a:prstGeom>
          <a:solidFill>
            <a:srgbClr val="132A26"/>
          </a:solidFill>
          <a:ln w="15875">
            <a:solidFill>
              <a:srgbClr val="E06C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3368" y="4142231"/>
            <a:ext cx="197510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06C5E"/>
                </a:solidFill>
                <a:latin typeface="Segoe UI"/>
              </a:rPr>
              <a:t>ClamAV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3368" y="4636007"/>
            <a:ext cx="197510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2F7F5"/>
                </a:solidFill>
                <a:latin typeface="Segoe UI"/>
              </a:rPr>
              <a:t>Antivirus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2F7F5"/>
                </a:solidFill>
                <a:latin typeface="Segoe UI"/>
              </a:rPr>
              <a:t>de archivos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23960" y="3977639"/>
            <a:ext cx="2377440" cy="1463040"/>
          </a:xfrm>
          <a:prstGeom prst="roundRect">
            <a:avLst>
              <a:gd name="adj" fmla="val 8000"/>
            </a:avLst>
          </a:prstGeom>
          <a:solidFill>
            <a:srgbClr val="132A26"/>
          </a:solidFill>
          <a:ln w="15875">
            <a:solidFill>
              <a:srgbClr val="3FC1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25128" y="4142231"/>
            <a:ext cx="197510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3FC19F"/>
                </a:solidFill>
                <a:latin typeface="Segoe UI"/>
              </a:rPr>
              <a:t>Escritorios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25128" y="4636007"/>
            <a:ext cx="197510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2F7F5"/>
                </a:solidFill>
                <a:latin typeface="Segoe UI"/>
              </a:rPr>
              <a:t>Webtop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2F7F5"/>
                </a:solidFill>
                <a:latin typeface="Segoe UI"/>
              </a:rPr>
              <a:t>ct0 … ctN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5806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FB4AE"/>
                </a:solidFill>
                <a:latin typeface="Segoe UI"/>
              </a:rPr>
              <a:t>Cada servicio se puede reiniciar sin tumbar los demás.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02920"/>
            <a:ext cx="82296" cy="566928"/>
          </a:xfrm>
          <a:prstGeom prst="rect">
            <a:avLst/>
          </a:prstGeom>
          <a:solidFill>
            <a:srgbClr val="3FC1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438912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2F7F5"/>
                </a:solidFill>
                <a:latin typeface="Segoe UI Semibold"/>
              </a:rPr>
              <a:t>Con qué está hecho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6070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FB4AE"/>
                </a:solidFill>
                <a:latin typeface="Segoe UI"/>
              </a:rPr>
              <a:t>Tecnologías del proyecto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26364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FB4AE"/>
                </a:solidFill>
                <a:latin typeface="Segoe U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783080"/>
            <a:ext cx="103327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3FC19F"/>
                </a:solidFill>
                <a:latin typeface="Segoe UI"/>
              </a:rPr>
              <a:t>▸  </a:t>
            </a:r>
            <a:r>
              <a:rPr sz="1800">
                <a:solidFill>
                  <a:srgbClr val="F2F7F5"/>
                </a:solidFill>
                <a:latin typeface="Segoe UI"/>
              </a:rPr>
              <a:t>PHP 8.4 con Laravel 13: toda la lógica de la aplicación.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FC19F"/>
                </a:solidFill>
                <a:latin typeface="Segoe UI"/>
              </a:rPr>
              <a:t>▸  </a:t>
            </a:r>
            <a:r>
              <a:rPr sz="1800">
                <a:solidFill>
                  <a:srgbClr val="F2F7F5"/>
                </a:solidFill>
                <a:latin typeface="Segoe UI"/>
              </a:rPr>
              <a:t>MariaDB 11.4: cuentas, publicaciones y reportes.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FC19F"/>
                </a:solidFill>
                <a:latin typeface="Segoe UI"/>
              </a:rPr>
              <a:t>▸  </a:t>
            </a:r>
            <a:r>
              <a:rPr sz="1800">
                <a:solidFill>
                  <a:srgbClr val="F2F7F5"/>
                </a:solidFill>
                <a:latin typeface="Segoe UI"/>
              </a:rPr>
              <a:t>Docker: cada pieza en su contenedor.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FC19F"/>
                </a:solidFill>
                <a:latin typeface="Segoe UI"/>
              </a:rPr>
              <a:t>▸  </a:t>
            </a:r>
            <a:r>
              <a:rPr sz="1800">
                <a:solidFill>
                  <a:srgbClr val="F2F7F5"/>
                </a:solidFill>
                <a:latin typeface="Segoe UI"/>
              </a:rPr>
              <a:t>Caddy: proxy inverso y control de acceso.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FC19F"/>
                </a:solidFill>
                <a:latin typeface="Segoe UI"/>
              </a:rPr>
              <a:t>▸  </a:t>
            </a:r>
            <a:r>
              <a:rPr sz="1800">
                <a:solidFill>
                  <a:srgbClr val="F2F7F5"/>
                </a:solidFill>
                <a:latin typeface="Segoe UI"/>
              </a:rPr>
              <a:t>Cloudflare Tunnel: publica el sitio sin abrir puertos.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FC19F"/>
                </a:solidFill>
                <a:latin typeface="Segoe UI"/>
              </a:rPr>
              <a:t>▸  </a:t>
            </a:r>
            <a:r>
              <a:rPr sz="1800">
                <a:solidFill>
                  <a:srgbClr val="F2F7F5"/>
                </a:solidFill>
                <a:latin typeface="Segoe UI"/>
              </a:rPr>
              <a:t>Nginx y PHP-FPM dentro del contenedor de la aplicación.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FC19F"/>
                </a:solidFill>
                <a:latin typeface="Segoe UI"/>
              </a:rPr>
              <a:t>▸  </a:t>
            </a:r>
            <a:r>
              <a:rPr sz="1800">
                <a:solidFill>
                  <a:srgbClr val="F2F7F5"/>
                </a:solidFill>
                <a:latin typeface="Segoe UI"/>
              </a:rPr>
              <a:t>Ollama: modelo de lenguaje local para el asistente.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FC19F"/>
                </a:solidFill>
                <a:latin typeface="Segoe UI"/>
              </a:rPr>
              <a:t>▸  </a:t>
            </a:r>
            <a:r>
              <a:rPr sz="1800">
                <a:solidFill>
                  <a:srgbClr val="F2F7F5"/>
                </a:solidFill>
                <a:latin typeface="Segoe UI"/>
              </a:rPr>
              <a:t>Python: los servicios de moderación de imágenes.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FC19F"/>
                </a:solidFill>
                <a:latin typeface="Segoe UI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514600"/>
            <a:ext cx="10424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F2F7F5"/>
                </a:solidFill>
                <a:latin typeface="Segoe UI Semibold"/>
              </a:rPr>
              <a:t>Escritorios virtuales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566160"/>
            <a:ext cx="96926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9FB4AE"/>
                </a:solidFill>
                <a:latin typeface="Segoe UI"/>
              </a:rPr>
              <a:t>Un contenedor por estudiante, entregado por el proxy solo a su dueño.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02920"/>
            <a:ext cx="82296" cy="566928"/>
          </a:xfrm>
          <a:prstGeom prst="rect">
            <a:avLst/>
          </a:prstGeom>
          <a:solidFill>
            <a:srgbClr val="3FC1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438912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2F7F5"/>
                </a:solidFill>
                <a:latin typeface="Segoe UI Semibold"/>
              </a:rPr>
              <a:t>Los escritorios Webtop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6070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FB4AE"/>
                </a:solidFill>
                <a:latin typeface="Segoe UI"/>
              </a:rPr>
              <a:t>Un contenedor por persona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26364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FB4AE"/>
                </a:solidFill>
                <a:latin typeface="Segoe U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737360"/>
            <a:ext cx="10332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3FC19F"/>
                </a:solidFill>
                <a:latin typeface="Segoe UI"/>
              </a:rPr>
              <a:t>▸  </a:t>
            </a:r>
            <a:r>
              <a:rPr sz="1700">
                <a:solidFill>
                  <a:srgbClr val="F2F7F5"/>
                </a:solidFill>
                <a:latin typeface="Segoe UI"/>
              </a:rPr>
              <a:t>Cada escritorio es un contenedor Linux independiente: ct0, ct1, ct2…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3FC19F"/>
                </a:solidFill>
                <a:latin typeface="Segoe UI"/>
              </a:rPr>
              <a:t>▸  </a:t>
            </a:r>
            <a:r>
              <a:rPr sz="1700">
                <a:solidFill>
                  <a:srgbClr val="F2F7F5"/>
                </a:solidFill>
                <a:latin typeface="Segoe UI"/>
              </a:rPr>
              <a:t>Lleva escritorio Ubuntu MATE, ofimática, navegador y editor.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3FC19F"/>
                </a:solidFill>
                <a:latin typeface="Segoe UI"/>
              </a:rPr>
              <a:t>▸  </a:t>
            </a:r>
            <a:r>
              <a:rPr sz="1700">
                <a:solidFill>
                  <a:srgbClr val="F2F7F5"/>
                </a:solidFill>
                <a:latin typeface="Segoe UI"/>
              </a:rPr>
              <a:t>La aplicación decide qué contenedor le toca a cada cuenta.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3FC19F"/>
                </a:solidFill>
                <a:latin typeface="Segoe UI"/>
              </a:rPr>
              <a:t>▸  </a:t>
            </a:r>
            <a:r>
              <a:rPr sz="1700">
                <a:solidFill>
                  <a:srgbClr val="F2F7F5"/>
                </a:solidFill>
                <a:latin typeface="Segoe UI"/>
              </a:rPr>
              <a:t>El navegador solo recibe la imagen: el trabajo ocurre en el servidor.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3FC19F"/>
                </a:solidFill>
                <a:latin typeface="Segoe UI"/>
              </a:rPr>
              <a:t>▸  </a:t>
            </a:r>
            <a:r>
              <a:rPr sz="1700">
                <a:solidFill>
                  <a:srgbClr val="F2F7F5"/>
                </a:solidFill>
                <a:latin typeface="Segoe UI"/>
              </a:rPr>
              <a:t>El administrador puede probar cada escritorio desde el panel.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12229" y="3941063"/>
            <a:ext cx="3737060" cy="2221992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1F6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4-escritorio-web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8805" y="3977639"/>
            <a:ext cx="3663908" cy="21488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02920"/>
            <a:ext cx="82296" cy="566928"/>
          </a:xfrm>
          <a:prstGeom prst="rect">
            <a:avLst/>
          </a:prstGeom>
          <a:solidFill>
            <a:srgbClr val="3FC1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438912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2F7F5"/>
                </a:solidFill>
                <a:latin typeface="Segoe UI Semibold"/>
              </a:rPr>
              <a:t>El problema de acceso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6070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FB4AE"/>
                </a:solidFill>
                <a:latin typeface="Segoe UI"/>
              </a:rPr>
              <a:t>Por qué no bastaba la cookie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26364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FB4AE"/>
                </a:solidFill>
                <a:latin typeface="Segoe UI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783080"/>
            <a:ext cx="4937760" cy="2011680"/>
          </a:xfrm>
          <a:prstGeom prst="roundRect">
            <a:avLst>
              <a:gd name="adj" fmla="val 8000"/>
            </a:avLst>
          </a:prstGeom>
          <a:solidFill>
            <a:srgbClr val="132A26"/>
          </a:solidFill>
          <a:ln w="15875">
            <a:solidFill>
              <a:srgbClr val="E06C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1947672"/>
            <a:ext cx="453542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06C5E"/>
                </a:solidFill>
                <a:latin typeface="Segoe UI"/>
              </a:rPr>
              <a:t>Lo que pasaba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2441448"/>
            <a:ext cx="4535424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2F7F5"/>
                </a:solidFill>
                <a:latin typeface="Segoe UI"/>
              </a:rPr>
              <a:t>La comprobación dependía de la cookie de sesión.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2F7F5"/>
                </a:solidFill>
                <a:latin typeface="Segoe UI"/>
              </a:rPr>
              <a:t>La cookie no siempre viaja al subdominio del escritorio.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2F7F5"/>
                </a:solidFill>
                <a:latin typeface="Segoe UI"/>
              </a:rPr>
              <a:t>Resultado: 403 al abrir tu propio escritorio.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783080"/>
            <a:ext cx="5029200" cy="2011680"/>
          </a:xfrm>
          <a:prstGeom prst="roundRect">
            <a:avLst>
              <a:gd name="adj" fmla="val 8000"/>
            </a:avLst>
          </a:prstGeom>
          <a:solidFill>
            <a:srgbClr val="132A26"/>
          </a:solidFill>
          <a:ln w="15875">
            <a:solidFill>
              <a:srgbClr val="E8A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947672"/>
            <a:ext cx="462686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8A33D"/>
                </a:solidFill>
                <a:latin typeface="Segoe UI"/>
              </a:rPr>
              <a:t>Lo que no se podía hacer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0528" y="2441448"/>
            <a:ext cx="4626864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2F7F5"/>
                </a:solidFill>
                <a:latin typeface="Segoe UI"/>
              </a:rPr>
              <a:t>Quitar la comprobación.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2F7F5"/>
                </a:solidFill>
                <a:latin typeface="Segoe UI"/>
              </a:rPr>
              <a:t>Porque entonces cualquiera con la dirección entra.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2F7F5"/>
                </a:solidFill>
                <a:latin typeface="Segoe UI"/>
              </a:rPr>
              <a:t>Incluido el escritorio de otro.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60520"/>
            <a:ext cx="10424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>
                <a:solidFill>
                  <a:srgbClr val="3FC19F"/>
                </a:solidFill>
                <a:latin typeface="Segoe UI"/>
              </a:rPr>
              <a:t>Había que resolver las dos cosas a la vez: que el dueño entre y que nadie más entre.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02920"/>
            <a:ext cx="82296" cy="566928"/>
          </a:xfrm>
          <a:prstGeom prst="rect">
            <a:avLst/>
          </a:prstGeom>
          <a:solidFill>
            <a:srgbClr val="3FC1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438912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2F7F5"/>
                </a:solidFill>
                <a:latin typeface="Segoe UI Semibold"/>
              </a:rPr>
              <a:t>La solución: un pase firmado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6070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FB4AE"/>
                </a:solidFill>
                <a:latin typeface="Segoe UI"/>
              </a:rPr>
              <a:t>Un enlace que no se puede fabricar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26364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FB4AE"/>
                </a:solidFill>
                <a:latin typeface="Segoe U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737360"/>
            <a:ext cx="3291840" cy="2377440"/>
          </a:xfrm>
          <a:prstGeom prst="roundRect">
            <a:avLst>
              <a:gd name="adj" fmla="val 8000"/>
            </a:avLst>
          </a:prstGeom>
          <a:solidFill>
            <a:srgbClr val="132A26"/>
          </a:solidFill>
          <a:ln w="15875">
            <a:solidFill>
              <a:srgbClr val="3FC1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1901952"/>
            <a:ext cx="288950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FC19F"/>
                </a:solidFill>
                <a:latin typeface="Segoe UI"/>
              </a:rPr>
              <a:t>Firmado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2395728"/>
            <a:ext cx="2889504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2F7F5"/>
                </a:solidFill>
                <a:latin typeface="Segoe UI"/>
              </a:rPr>
              <a:t>Con la clave de la aplicación.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2F7F5"/>
                </a:solidFill>
                <a:latin typeface="Segoe UI"/>
              </a:rPr>
              <a:t>Si alguien lo altera, deja de valer.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737360"/>
            <a:ext cx="3291840" cy="2377440"/>
          </a:xfrm>
          <a:prstGeom prst="roundRect">
            <a:avLst>
              <a:gd name="adj" fmla="val 8000"/>
            </a:avLst>
          </a:prstGeom>
          <a:solidFill>
            <a:srgbClr val="132A26"/>
          </a:solidFill>
          <a:ln w="15875">
            <a:solidFill>
              <a:srgbClr val="3FC1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7" y="1901952"/>
            <a:ext cx="288950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FC19F"/>
                </a:solidFill>
                <a:latin typeface="Segoe UI"/>
              </a:rPr>
              <a:t>Con caducidad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7" y="2395728"/>
            <a:ext cx="2889504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2F7F5"/>
                </a:solidFill>
                <a:latin typeface="Segoe UI"/>
              </a:rPr>
              <a:t>8 horas de validez.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2F7F5"/>
                </a:solidFill>
                <a:latin typeface="Segoe UI"/>
              </a:rPr>
              <a:t>Una dirección copiada deja de servir.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1737360"/>
            <a:ext cx="3383280" cy="2377440"/>
          </a:xfrm>
          <a:prstGeom prst="roundRect">
            <a:avLst>
              <a:gd name="adj" fmla="val 8000"/>
            </a:avLst>
          </a:prstGeom>
          <a:solidFill>
            <a:srgbClr val="132A26"/>
          </a:solidFill>
          <a:ln w="15875">
            <a:solidFill>
              <a:srgbClr val="3FC1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02168" y="1901952"/>
            <a:ext cx="298094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FC19F"/>
                </a:solidFill>
                <a:latin typeface="Segoe UI"/>
              </a:rPr>
              <a:t>Atado al dueño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2168" y="2395728"/>
            <a:ext cx="2980944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2F7F5"/>
                </a:solidFill>
                <a:latin typeface="Segoe UI"/>
              </a:rPr>
              <a:t>Va ligado al usuario y a su escritorio.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2F7F5"/>
                </a:solidFill>
                <a:latin typeface="Segoe UI"/>
              </a:rPr>
              <a:t>El pase de uno no abre el de otro.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43484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2F7F5"/>
                </a:solidFill>
                <a:latin typeface="Segoe UI"/>
              </a:rPr>
              <a:t>Y viaja en la dirección, no en una cookie: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983480"/>
            <a:ext cx="10424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3FC19F"/>
                </a:solidFill>
                <a:latin typeface="Segoe UI"/>
              </a:rPr>
              <a:t>…/contenedor/ventana?pase=firma&amp;usuario=frank&amp;contenedor=ct3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02920"/>
            <a:ext cx="82296" cy="566928"/>
          </a:xfrm>
          <a:prstGeom prst="rect">
            <a:avLst/>
          </a:prstGeom>
          <a:solidFill>
            <a:srgbClr val="3FC1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438912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2F7F5"/>
                </a:solidFill>
                <a:latin typeface="Segoe UI Semibold"/>
              </a:rPr>
              <a:t>El control de acceso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6070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FB4AE"/>
                </a:solidFill>
                <a:latin typeface="Segoe UI"/>
              </a:rPr>
              <a:t>Cinco pasos antes de entregar un escritorio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26364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FB4AE"/>
                </a:solidFill>
                <a:latin typeface="Segoe UI"/>
              </a:rPr>
              <a:t>10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1783080"/>
            <a:ext cx="457200" cy="457200"/>
          </a:xfrm>
          <a:prstGeom prst="ellipse">
            <a:avLst/>
          </a:prstGeom>
          <a:solidFill>
            <a:srgbClr val="3FC1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C1A18"/>
                </a:solidFill>
                <a:latin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764792"/>
            <a:ext cx="9509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F2F7F5"/>
                </a:solidFill>
                <a:latin typeface="Segoe UI"/>
              </a:rPr>
              <a:t>El navegador pide el escritorio con su pase.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24328"/>
            <a:ext cx="457200" cy="457200"/>
          </a:xfrm>
          <a:prstGeom prst="ellipse">
            <a:avLst/>
          </a:prstGeom>
          <a:solidFill>
            <a:srgbClr val="3FC1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C1A18"/>
                </a:solidFill>
                <a:latin typeface="Segoe U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606040"/>
            <a:ext cx="9509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F2F7F5"/>
                </a:solidFill>
                <a:latin typeface="Segoe UI"/>
              </a:rPr>
              <a:t>Caddy añade la cabecera X-Container.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465576"/>
            <a:ext cx="457200" cy="457200"/>
          </a:xfrm>
          <a:prstGeom prst="ellipse">
            <a:avLst/>
          </a:prstGeom>
          <a:solidFill>
            <a:srgbClr val="3FC1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C1A18"/>
                </a:solidFill>
                <a:latin typeface="Segoe U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447288"/>
            <a:ext cx="9509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F2F7F5"/>
                </a:solidFill>
                <a:latin typeface="Segoe UI"/>
              </a:rPr>
              <a:t>Caddy pregunta a /internal/proxy-auth.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4306824"/>
            <a:ext cx="457200" cy="457200"/>
          </a:xfrm>
          <a:prstGeom prst="ellipse">
            <a:avLst/>
          </a:prstGeom>
          <a:solidFill>
            <a:srgbClr val="3FC1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C1A18"/>
                </a:solidFill>
                <a:latin typeface="Segoe U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4288536"/>
            <a:ext cx="9509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F2F7F5"/>
                </a:solidFill>
                <a:latin typeface="Segoe UI"/>
              </a:rPr>
              <a:t>La aplicación valida firma, fecha y dueño.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5148072"/>
            <a:ext cx="457200" cy="457200"/>
          </a:xfrm>
          <a:prstGeom prst="ellipse">
            <a:avLst/>
          </a:prstGeom>
          <a:solidFill>
            <a:srgbClr val="3FC1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C1A18"/>
                </a:solidFill>
                <a:latin typeface="Segoe U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5129784"/>
            <a:ext cx="9509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F2F7F5"/>
                </a:solidFill>
                <a:latin typeface="Segoe UI"/>
              </a:rPr>
              <a:t>Responde 200 o 403. Caddy entrega o niega.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98932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FB4AE"/>
                </a:solidFill>
                <a:latin typeface="Segoe UI"/>
              </a:rPr>
              <a:t>El nombre del contenedor lo pone Caddy, no el navegador: no se puede falsear.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FC19F"/>
                </a:solidFill>
                <a:latin typeface="Segoe UI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514600"/>
            <a:ext cx="10424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F2F7F5"/>
                </a:solidFill>
                <a:latin typeface="Segoe UI Semibold"/>
              </a:rPr>
              <a:t>Moderación de imágenes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566160"/>
            <a:ext cx="96926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9FB4AE"/>
                </a:solidFill>
                <a:latin typeface="Segoe UI"/>
              </a:rPr>
              <a:t>NSFW-Sherlock revisa cada foto antes de publicarse.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02920"/>
            <a:ext cx="82296" cy="566928"/>
          </a:xfrm>
          <a:prstGeom prst="rect">
            <a:avLst/>
          </a:prstGeom>
          <a:solidFill>
            <a:srgbClr val="3FC1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438912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2F7F5"/>
                </a:solidFill>
                <a:latin typeface="Segoe UI Semibold"/>
              </a:rPr>
              <a:t>NSFW-Sherlock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6070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FB4AE"/>
                </a:solidFill>
                <a:latin typeface="Segoe UI"/>
              </a:rPr>
              <a:t>Un servicio aparte, con una sola tarea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26364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FB4AE"/>
                </a:solidFill>
                <a:latin typeface="Segoe U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737360"/>
            <a:ext cx="103327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3FC19F"/>
                </a:solidFill>
                <a:latin typeface="Segoe UI"/>
              </a:rPr>
              <a:t>▸  </a:t>
            </a:r>
            <a:r>
              <a:rPr sz="1800">
                <a:solidFill>
                  <a:srgbClr val="F2F7F5"/>
                </a:solidFill>
                <a:latin typeface="Segoe UI"/>
              </a:rPr>
              <a:t>Analiza una imagen y estima si es contenido no apto.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FC19F"/>
                </a:solidFill>
                <a:latin typeface="Segoe UI"/>
              </a:rPr>
              <a:t>▸  </a:t>
            </a:r>
            <a:r>
              <a:rPr sz="1800">
                <a:solidFill>
                  <a:srgbClr val="F2F7F5"/>
                </a:solidFill>
                <a:latin typeface="Segoe UI"/>
              </a:rPr>
              <a:t>Corre en su propio contenedor, sin publicar puertos.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FC19F"/>
                </a:solidFill>
                <a:latin typeface="Segoe UI"/>
              </a:rPr>
              <a:t>▸  </a:t>
            </a:r>
            <a:r>
              <a:rPr sz="1800">
                <a:solidFill>
                  <a:srgbClr val="F2F7F5"/>
                </a:solidFill>
                <a:latin typeface="Segoe UI"/>
              </a:rPr>
              <a:t>Solo se llega a él desde la red interna de Docker.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FC19F"/>
                </a:solidFill>
                <a:latin typeface="Segoe UI"/>
              </a:rPr>
              <a:t>▸  </a:t>
            </a:r>
            <a:r>
              <a:rPr sz="1800">
                <a:solidFill>
                  <a:srgbClr val="F2F7F5"/>
                </a:solidFill>
                <a:latin typeface="Segoe UI"/>
              </a:rPr>
              <a:t>La aplicación le habla por HTTP y le manda la imagen.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FC19F"/>
                </a:solidFill>
                <a:latin typeface="Segoe UI"/>
              </a:rPr>
              <a:t>▸  </a:t>
            </a:r>
            <a:r>
              <a:rPr sz="1800">
                <a:solidFill>
                  <a:srgbClr val="F2F7F5"/>
                </a:solidFill>
                <a:latin typeface="Segoe UI"/>
              </a:rPr>
              <a:t>La decisión de publicar o no es de la aplicación, no del servicio.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4343400"/>
            <a:ext cx="9601200" cy="1371600"/>
          </a:xfrm>
          <a:prstGeom prst="roundRect">
            <a:avLst>
              <a:gd name="adj" fmla="val 8000"/>
            </a:avLst>
          </a:prstGeom>
          <a:solidFill>
            <a:srgbClr val="132A26"/>
          </a:solidFill>
          <a:ln w="15875">
            <a:solidFill>
              <a:srgbClr val="3FC1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81328" y="4507992"/>
            <a:ext cx="919886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FC19F"/>
                </a:solidFill>
                <a:latin typeface="Segoe UI"/>
              </a:rPr>
              <a:t>¿Por qué separarlo?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5001768"/>
            <a:ext cx="919886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2F7F5"/>
                </a:solidFill>
                <a:latin typeface="Segoe UI"/>
              </a:rPr>
              <a:t>Se puede cambiar el modelo sin tocar la aplicación, y ajustar la sensibilidad sin reentrenar nada.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02920"/>
            <a:ext cx="82296" cy="566928"/>
          </a:xfrm>
          <a:prstGeom prst="rect">
            <a:avLst/>
          </a:prstGeom>
          <a:solidFill>
            <a:srgbClr val="3FC1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438912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2F7F5"/>
                </a:solidFill>
                <a:latin typeface="Segoe UI Semibold"/>
              </a:rPr>
              <a:t>El flujo de una revisión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6070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FB4AE"/>
                </a:solidFill>
                <a:latin typeface="Segoe UI"/>
              </a:rPr>
              <a:t>Qué ocurre cuando alguien sube una foto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26364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FB4AE"/>
                </a:solidFill>
                <a:latin typeface="Segoe UI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11680"/>
            <a:ext cx="2103120" cy="1737360"/>
          </a:xfrm>
          <a:prstGeom prst="roundRect">
            <a:avLst>
              <a:gd name="adj" fmla="val 8000"/>
            </a:avLst>
          </a:prstGeom>
          <a:solidFill>
            <a:srgbClr val="132A26"/>
          </a:solidFill>
          <a:ln w="15875">
            <a:solidFill>
              <a:srgbClr val="3FC1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2176272"/>
            <a:ext cx="170078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3FC19F"/>
                </a:solidFill>
                <a:latin typeface="Segoe UI"/>
              </a:rPr>
              <a:t>Sube la foto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670048"/>
            <a:ext cx="1700784" cy="9143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2F7F5"/>
                </a:solidFill>
                <a:latin typeface="Segoe UI"/>
              </a:rPr>
              <a:t>El usuario publica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42615" y="2697480"/>
            <a:ext cx="201168" cy="274320"/>
          </a:xfrm>
          <a:prstGeom prst="rightArrow">
            <a:avLst/>
          </a:prstGeom>
          <a:solidFill>
            <a:srgbClr val="9FB4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43784" y="2011680"/>
            <a:ext cx="2103120" cy="1737360"/>
          </a:xfrm>
          <a:prstGeom prst="roundRect">
            <a:avLst>
              <a:gd name="adj" fmla="val 8000"/>
            </a:avLst>
          </a:prstGeom>
          <a:solidFill>
            <a:srgbClr val="132A26"/>
          </a:solidFill>
          <a:ln w="15875">
            <a:solidFill>
              <a:srgbClr val="4A9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2176272"/>
            <a:ext cx="170078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4A9FE0"/>
                </a:solidFill>
                <a:latin typeface="Segoe UI"/>
              </a:rPr>
              <a:t>Temporal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4952" y="2670048"/>
            <a:ext cx="1700784" cy="9143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2F7F5"/>
                </a:solidFill>
                <a:latin typeface="Segoe UI"/>
              </a:rPr>
              <a:t>La aplicación la guarda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983480" y="2697480"/>
            <a:ext cx="201168" cy="274320"/>
          </a:xfrm>
          <a:prstGeom prst="rightArrow">
            <a:avLst/>
          </a:prstGeom>
          <a:solidFill>
            <a:srgbClr val="9FB4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84648" y="2011680"/>
            <a:ext cx="2103120" cy="1737360"/>
          </a:xfrm>
          <a:prstGeom prst="roundRect">
            <a:avLst>
              <a:gd name="adj" fmla="val 8000"/>
            </a:avLst>
          </a:prstGeom>
          <a:solidFill>
            <a:srgbClr val="132A26"/>
          </a:solidFill>
          <a:ln w="15875">
            <a:solidFill>
              <a:srgbClr val="E8A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85816" y="2176272"/>
            <a:ext cx="170078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8A33D"/>
                </a:solidFill>
                <a:latin typeface="Segoe UI"/>
              </a:rPr>
              <a:t>Sherlock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85816" y="2670048"/>
            <a:ext cx="1700784" cy="9143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2F7F5"/>
                </a:solidFill>
                <a:latin typeface="Segoe UI"/>
              </a:rPr>
              <a:t>Devuelve puntuaciones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324344" y="2697480"/>
            <a:ext cx="201168" cy="274320"/>
          </a:xfrm>
          <a:prstGeom prst="rightArrow">
            <a:avLst/>
          </a:prstGeom>
          <a:solidFill>
            <a:srgbClr val="9FB4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25512" y="2011680"/>
            <a:ext cx="2103120" cy="1737360"/>
          </a:xfrm>
          <a:prstGeom prst="roundRect">
            <a:avLst>
              <a:gd name="adj" fmla="val 8000"/>
            </a:avLst>
          </a:prstGeom>
          <a:solidFill>
            <a:srgbClr val="132A26"/>
          </a:solidFill>
          <a:ln w="15875">
            <a:solidFill>
              <a:srgbClr val="E8A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6680" y="2176272"/>
            <a:ext cx="170078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8A33D"/>
                </a:solidFill>
                <a:latin typeface="Segoe UI"/>
              </a:rPr>
              <a:t>Umbral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6680" y="2670048"/>
            <a:ext cx="1700784" cy="9143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2F7F5"/>
                </a:solidFill>
                <a:latin typeface="Segoe UI"/>
              </a:rPr>
              <a:t>0 a 1, ajustable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665208" y="2697480"/>
            <a:ext cx="201168" cy="274320"/>
          </a:xfrm>
          <a:prstGeom prst="rightArrow">
            <a:avLst/>
          </a:prstGeom>
          <a:solidFill>
            <a:srgbClr val="9FB4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66376" y="2011680"/>
            <a:ext cx="2103120" cy="1737360"/>
          </a:xfrm>
          <a:prstGeom prst="roundRect">
            <a:avLst>
              <a:gd name="adj" fmla="val 8000"/>
            </a:avLst>
          </a:prstGeom>
          <a:solidFill>
            <a:srgbClr val="132A26"/>
          </a:solidFill>
          <a:ln w="15875">
            <a:solidFill>
              <a:srgbClr val="E06C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67544" y="2176272"/>
            <a:ext cx="170078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06C5E"/>
                </a:solidFill>
                <a:latin typeface="Segoe UI"/>
              </a:rPr>
              <a:t>Decisión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67544" y="2670048"/>
            <a:ext cx="1700784" cy="9143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2F7F5"/>
                </a:solidFill>
                <a:latin typeface="Segoe UI"/>
              </a:rPr>
              <a:t>Publica o rechaza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416052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E06C5E"/>
                </a:solidFill>
                <a:latin typeface="Segoe UI"/>
              </a:rPr>
              <a:t>Si supera el umbral: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61772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3FC19F"/>
                </a:solidFill>
                <a:latin typeface="Segoe UI"/>
              </a:rPr>
              <a:t>▸  </a:t>
            </a:r>
            <a:r>
              <a:rPr sz="1400">
                <a:solidFill>
                  <a:srgbClr val="F2F7F5"/>
                </a:solidFill>
                <a:latin typeface="Segoe UI"/>
              </a:rPr>
              <a:t>La imagen se borra y no se publica.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3FC19F"/>
                </a:solidFill>
                <a:latin typeface="Segoe UI"/>
              </a:rPr>
              <a:t>▸  </a:t>
            </a:r>
            <a:r>
              <a:rPr sz="1400">
                <a:solidFill>
                  <a:srgbClr val="F2F7F5"/>
                </a:solidFill>
                <a:latin typeface="Segoe UI"/>
              </a:rPr>
              <a:t>El usuario recibe un aviso explicando qué pasó.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3FC19F"/>
                </a:solidFill>
                <a:latin typeface="Segoe UI"/>
              </a:rPr>
              <a:t>▸  </a:t>
            </a:r>
            <a:r>
              <a:rPr sz="1400">
                <a:solidFill>
                  <a:srgbClr val="F2F7F5"/>
                </a:solidFill>
                <a:latin typeface="Segoe UI"/>
              </a:rPr>
              <a:t>El administrador queda enterado para revisarlo.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02920"/>
            <a:ext cx="82296" cy="566928"/>
          </a:xfrm>
          <a:prstGeom prst="rect">
            <a:avLst/>
          </a:prstGeom>
          <a:solidFill>
            <a:srgbClr val="3FC1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438912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2F7F5"/>
                </a:solidFill>
                <a:latin typeface="Segoe UI Semibold"/>
              </a:rPr>
              <a:t>El umbral: dónde ponerlo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6070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FB4AE"/>
                </a:solidFill>
                <a:latin typeface="Segoe UI"/>
              </a:rPr>
              <a:t>La herramienta propone, la persona decide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26364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FB4AE"/>
                </a:solidFill>
                <a:latin typeface="Segoe UI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1828800"/>
            <a:ext cx="2743200" cy="1051560"/>
          </a:xfrm>
          <a:prstGeom prst="roundRect">
            <a:avLst>
              <a:gd name="adj" fmla="val 8000"/>
            </a:avLst>
          </a:prstGeom>
          <a:solidFill>
            <a:srgbClr val="132A26"/>
          </a:solidFill>
          <a:ln w="15875">
            <a:solidFill>
              <a:srgbClr val="3FC1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8448" y="1993392"/>
            <a:ext cx="234086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3FC19F"/>
                </a:solidFill>
                <a:latin typeface="Segoe UI"/>
              </a:rPr>
              <a:t>0.90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487168"/>
            <a:ext cx="2340864" cy="2285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F2F7F5"/>
                </a:solidFill>
                <a:latin typeface="Segoe UI"/>
              </a:rPr>
              <a:t>Muy permisivo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14884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9FB4AE"/>
                </a:solidFill>
                <a:latin typeface="Segoe UI"/>
              </a:rPr>
              <a:t>Solo lo evidente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3154680"/>
            <a:ext cx="2743200" cy="1051560"/>
          </a:xfrm>
          <a:prstGeom prst="roundRect">
            <a:avLst>
              <a:gd name="adj" fmla="val 8000"/>
            </a:avLst>
          </a:prstGeom>
          <a:solidFill>
            <a:srgbClr val="132A26"/>
          </a:solidFill>
          <a:ln w="15875">
            <a:solidFill>
              <a:srgbClr val="E8A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319272"/>
            <a:ext cx="234086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8A33D"/>
                </a:solidFill>
                <a:latin typeface="Segoe UI"/>
              </a:rPr>
              <a:t>0.75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3813048"/>
            <a:ext cx="2340864" cy="2285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F2F7F5"/>
                </a:solidFill>
                <a:latin typeface="Segoe UI"/>
              </a:rPr>
              <a:t>Equilibrado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47472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9FB4AE"/>
                </a:solidFill>
                <a:latin typeface="Segoe UI"/>
              </a:rPr>
              <a:t>Recomendado en clase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0" y="4480560"/>
            <a:ext cx="2743200" cy="1051560"/>
          </a:xfrm>
          <a:prstGeom prst="roundRect">
            <a:avLst>
              <a:gd name="adj" fmla="val 8000"/>
            </a:avLst>
          </a:prstGeom>
          <a:solidFill>
            <a:srgbClr val="132A26"/>
          </a:solidFill>
          <a:ln w="15875">
            <a:solidFill>
              <a:srgbClr val="E06C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645152"/>
            <a:ext cx="234086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06C5E"/>
                </a:solidFill>
                <a:latin typeface="Segoe UI"/>
              </a:rPr>
              <a:t>0.60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8448" y="5138928"/>
            <a:ext cx="2340864" cy="2285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F2F7F5"/>
                </a:solidFill>
                <a:latin typeface="Segoe UI"/>
              </a:rPr>
              <a:t>Estricto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80060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9FB4AE"/>
                </a:solidFill>
                <a:latin typeface="Segoe UI"/>
              </a:rPr>
              <a:t>Etapas con reportes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89788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8A33D"/>
                </a:solidFill>
                <a:latin typeface="Segoe UI"/>
              </a:rPr>
              <a:t>Es una revisión probabilística: puede equivocarse. Ante una duda, revisar a mano.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FC19F"/>
                </a:solidFill>
                <a:latin typeface="Segoe UI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514600"/>
            <a:ext cx="10424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F2F7F5"/>
                </a:solidFill>
                <a:latin typeface="Segoe UI Semibold"/>
              </a:rPr>
              <a:t>Antivirus de archivos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566160"/>
            <a:ext cx="96926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9FB4AE"/>
                </a:solidFill>
                <a:latin typeface="Segoe UI"/>
              </a:rPr>
              <a:t>ClamAV revisa cada archivo antes de darlo por bueno.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02920"/>
            <a:ext cx="82296" cy="566928"/>
          </a:xfrm>
          <a:prstGeom prst="rect">
            <a:avLst/>
          </a:prstGeom>
          <a:solidFill>
            <a:srgbClr val="3FC1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438912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2F7F5"/>
                </a:solidFill>
                <a:latin typeface="Segoe UI Semibold"/>
              </a:rPr>
              <a:t>ClamAV: cómo se escanea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6070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FB4AE"/>
                </a:solidFill>
                <a:latin typeface="Segoe UI"/>
              </a:rPr>
              <a:t>Por socket, sin compartir archivos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26364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FB4AE"/>
                </a:solidFill>
                <a:latin typeface="Segoe U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737360"/>
            <a:ext cx="103327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3FC19F"/>
                </a:solidFill>
                <a:latin typeface="Segoe UI"/>
              </a:rPr>
              <a:t>▸  </a:t>
            </a:r>
            <a:r>
              <a:rPr sz="1800">
                <a:solidFill>
                  <a:srgbClr val="F2F7F5"/>
                </a:solidFill>
                <a:latin typeface="Segoe UI"/>
              </a:rPr>
              <a:t>La subida llega por trozos; al terminar se juntan en un archivo temporal.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FC19F"/>
                </a:solidFill>
                <a:latin typeface="Segoe UI"/>
              </a:rPr>
              <a:t>▸  </a:t>
            </a:r>
            <a:r>
              <a:rPr sz="1800">
                <a:solidFill>
                  <a:srgbClr val="F2F7F5"/>
                </a:solidFill>
                <a:latin typeface="Segoe UI"/>
              </a:rPr>
              <a:t>Ese archivo se envía al antivirus con el comando INSTREAM.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FC19F"/>
                </a:solidFill>
                <a:latin typeface="Segoe UI"/>
              </a:rPr>
              <a:t>▸  </a:t>
            </a:r>
            <a:r>
              <a:rPr sz="1800">
                <a:solidFill>
                  <a:srgbClr val="F2F7F5"/>
                </a:solidFill>
                <a:latin typeface="Segoe UI"/>
              </a:rPr>
              <a:t>Se manda en bloques de 64 KB, sin copiar el archivo al otro contenedor.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FC19F"/>
                </a:solidFill>
                <a:latin typeface="Segoe UI"/>
              </a:rPr>
              <a:t>▸  </a:t>
            </a:r>
            <a:r>
              <a:rPr sz="1800">
                <a:solidFill>
                  <a:srgbClr val="F2F7F5"/>
                </a:solidFill>
                <a:latin typeface="Segoe UI"/>
              </a:rPr>
              <a:t>ClamAV responde: limpio, o con el nombre del virus.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FC19F"/>
                </a:solidFill>
                <a:latin typeface="Segoe UI"/>
              </a:rPr>
              <a:t>▸  </a:t>
            </a:r>
            <a:r>
              <a:rPr sz="1800">
                <a:solidFill>
                  <a:srgbClr val="F2F7F5"/>
                </a:solidFill>
                <a:latin typeface="Segoe UI"/>
              </a:rPr>
              <a:t>Solo si está limpio se mueve a su destino definitivo.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4617720"/>
            <a:ext cx="4937760" cy="1188720"/>
          </a:xfrm>
          <a:prstGeom prst="roundRect">
            <a:avLst>
              <a:gd name="adj" fmla="val 8000"/>
            </a:avLst>
          </a:prstGeom>
          <a:solidFill>
            <a:srgbClr val="132A26"/>
          </a:solidFill>
          <a:ln w="15875">
            <a:solidFill>
              <a:srgbClr val="3FC1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82312"/>
            <a:ext cx="453542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FC19F"/>
                </a:solidFill>
                <a:latin typeface="Segoe UI"/>
              </a:rPr>
              <a:t>INSTREAM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5276088"/>
            <a:ext cx="45354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2F7F5"/>
                </a:solidFill>
                <a:latin typeface="Segoe UI"/>
              </a:rPr>
              <a:t>Evita compartir el sistema de archivos entre contenedores.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4617720"/>
            <a:ext cx="5029200" cy="1188720"/>
          </a:xfrm>
          <a:prstGeom prst="roundRect">
            <a:avLst>
              <a:gd name="adj" fmla="val 8000"/>
            </a:avLst>
          </a:prstGeom>
          <a:solidFill>
            <a:srgbClr val="132A26"/>
          </a:solidFill>
          <a:ln w="15875">
            <a:solidFill>
              <a:srgbClr val="4A9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0528" y="4782312"/>
            <a:ext cx="462686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4A9FE0"/>
                </a:solidFill>
                <a:latin typeface="Segoe UI"/>
              </a:rPr>
              <a:t>Base de firmas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0528" y="5276088"/>
            <a:ext cx="462686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2F7F5"/>
                </a:solidFill>
                <a:latin typeface="Segoe UI"/>
              </a:rPr>
              <a:t>Unos 300 MB, guardados en un volumen para no repetir la descarga.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02920"/>
            <a:ext cx="82296" cy="566928"/>
          </a:xfrm>
          <a:prstGeom prst="rect">
            <a:avLst/>
          </a:prstGeom>
          <a:solidFill>
            <a:srgbClr val="3FC1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438912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2F7F5"/>
                </a:solidFill>
                <a:latin typeface="Segoe UI Semibold"/>
              </a:rPr>
              <a:t>Si el antivirus no responde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6070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FB4AE"/>
                </a:solidFill>
                <a:latin typeface="Segoe UI"/>
              </a:rPr>
              <a:t>Una decisión de criterio, no técnica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26364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FB4AE"/>
                </a:solidFill>
                <a:latin typeface="Segoe UI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1828800"/>
            <a:ext cx="4846320" cy="2926080"/>
          </a:xfrm>
          <a:prstGeom prst="roundRect">
            <a:avLst>
              <a:gd name="adj" fmla="val 8000"/>
            </a:avLst>
          </a:prstGeom>
          <a:solidFill>
            <a:srgbClr val="132A26"/>
          </a:solidFill>
          <a:ln w="15875">
            <a:solidFill>
              <a:srgbClr val="E8A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7008" y="1993392"/>
            <a:ext cx="444398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8A33D"/>
                </a:solidFill>
                <a:latin typeface="Segoe UI"/>
              </a:rPr>
              <a:t>Modo abierto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2487168"/>
            <a:ext cx="4443983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2F7F5"/>
                </a:solidFill>
                <a:latin typeface="Segoe UI"/>
              </a:rPr>
              <a:t>El archivo pasa.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2F7F5"/>
                </a:solidFill>
                <a:latin typeface="Segoe UI"/>
              </a:rPr>
              <a:t>El incidente queda en el registro.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2F7F5"/>
                </a:solidFill>
                <a:latin typeface="Segoe UI"/>
              </a:rPr>
              <a:t>Recomendado en un grupo de clase: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2F7F5"/>
                </a:solidFill>
                <a:latin typeface="Segoe UI"/>
              </a:rPr>
              <a:t>un servicio caído no debe impedir subir apuntes.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828800"/>
            <a:ext cx="4846320" cy="2926080"/>
          </a:xfrm>
          <a:prstGeom prst="roundRect">
            <a:avLst>
              <a:gd name="adj" fmla="val 8000"/>
            </a:avLst>
          </a:prstGeom>
          <a:solidFill>
            <a:srgbClr val="132A26"/>
          </a:solidFill>
          <a:ln w="15875">
            <a:solidFill>
              <a:srgbClr val="E06C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01968" y="1993392"/>
            <a:ext cx="444398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06C5E"/>
                </a:solidFill>
                <a:latin typeface="Segoe UI"/>
              </a:rPr>
              <a:t>Modo cerrado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1968" y="2487168"/>
            <a:ext cx="4443983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2F7F5"/>
                </a:solidFill>
                <a:latin typeface="Segoe UI"/>
              </a:rPr>
              <a:t>El archivo se rechaza.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2F7F5"/>
                </a:solidFill>
                <a:latin typeface="Segoe UI"/>
              </a:rPr>
              <a:t>El usuario recibe el motivo.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2F7F5"/>
                </a:solidFill>
                <a:latin typeface="Segoe UI"/>
              </a:rPr>
              <a:t>Recomendado cuando hay riesgo real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2F7F5"/>
                </a:solidFill>
                <a:latin typeface="Segoe UI"/>
              </a:rPr>
              <a:t>de malware.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07492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9FB4AE"/>
                </a:solidFill>
                <a:latin typeface="Segoe UI"/>
              </a:rPr>
              <a:t>Se configura con una variable de entorno, sin tocar código.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02920"/>
            <a:ext cx="82296" cy="566928"/>
          </a:xfrm>
          <a:prstGeom prst="rect">
            <a:avLst/>
          </a:prstGeom>
          <a:solidFill>
            <a:srgbClr val="3FC1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438912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2F7F5"/>
                </a:solidFill>
                <a:latin typeface="Segoe UI Semibold"/>
              </a:rPr>
              <a:t>Subidas de hasta 5 GB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6070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FB4AE"/>
                </a:solidFill>
                <a:latin typeface="Segoe UI"/>
              </a:rPr>
              <a:t>Por trozos, con reanudación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26364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FB4AE"/>
                </a:solidFill>
                <a:latin typeface="Segoe U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737360"/>
            <a:ext cx="10332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3FC19F"/>
                </a:solidFill>
                <a:latin typeface="Segoe UI"/>
              </a:rPr>
              <a:t>▸  </a:t>
            </a:r>
            <a:r>
              <a:rPr sz="1800">
                <a:solidFill>
                  <a:srgbClr val="F2F7F5"/>
                </a:solidFill>
                <a:latin typeface="Segoe UI"/>
              </a:rPr>
              <a:t>Los archivos se parten en trozos de 8 MB.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FC19F"/>
                </a:solidFill>
                <a:latin typeface="Segoe UI"/>
              </a:rPr>
              <a:t>▸  </a:t>
            </a:r>
            <a:r>
              <a:rPr sz="1800">
                <a:solidFill>
                  <a:srgbClr val="F2F7F5"/>
                </a:solidFill>
                <a:latin typeface="Segoe UI"/>
              </a:rPr>
              <a:t>Si se corta la conexión, el avance se conserva.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FC19F"/>
                </a:solidFill>
                <a:latin typeface="Segoe UI"/>
              </a:rPr>
              <a:t>▸  </a:t>
            </a:r>
            <a:r>
              <a:rPr sz="1800">
                <a:solidFill>
                  <a:srgbClr val="F2F7F5"/>
                </a:solidFill>
                <a:latin typeface="Segoe UI"/>
              </a:rPr>
              <a:t>Se puede reanudar donde se quedó.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FC19F"/>
                </a:solidFill>
                <a:latin typeface="Segoe UI"/>
              </a:rPr>
              <a:t>▸  </a:t>
            </a:r>
            <a:r>
              <a:rPr sz="1800">
                <a:solidFill>
                  <a:srgbClr val="F2F7F5"/>
                </a:solidFill>
                <a:latin typeface="Segoe UI"/>
              </a:rPr>
              <a:t>El botón Cancelar detiene la subida y no deja restos.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FC19F"/>
                </a:solidFill>
                <a:latin typeface="Segoe UI"/>
              </a:rPr>
              <a:t>▸  </a:t>
            </a:r>
            <a:r>
              <a:rPr sz="1800">
                <a:solidFill>
                  <a:srgbClr val="F2F7F5"/>
                </a:solidFill>
                <a:latin typeface="Segoe UI"/>
              </a:rPr>
              <a:t>Al terminar, el archivo completo pasa por el antivirus.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02920"/>
            <a:ext cx="82296" cy="566928"/>
          </a:xfrm>
          <a:prstGeom prst="rect">
            <a:avLst/>
          </a:prstGeom>
          <a:solidFill>
            <a:srgbClr val="3FC1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438912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2F7F5"/>
                </a:solidFill>
                <a:latin typeface="Segoe UI Semibold"/>
              </a:rPr>
              <a:t>El diseño: Redmond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6070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FB4AE"/>
                </a:solidFill>
                <a:latin typeface="Segoe UI"/>
              </a:rPr>
              <a:t>Cinco épocas de Windows, treinta esquemas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26364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FB4AE"/>
                </a:solidFill>
                <a:latin typeface="Segoe UI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39751" y="1700784"/>
            <a:ext cx="4321296" cy="4005072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1F6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4-temas-carrus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327" y="1737360"/>
            <a:ext cx="4248144" cy="39319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815584" y="2346617"/>
            <a:ext cx="5742432" cy="2713404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1F6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5-inicio-admin-calenda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2383193"/>
            <a:ext cx="5669280" cy="26402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585216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FB4AE"/>
                </a:solidFill>
                <a:latin typeface="Segoe UI"/>
              </a:rPr>
              <a:t>XP, Vista, 7, 8 y 10, con seis esquemas cada uno. El tema se recuerda por navegador.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02920"/>
            <a:ext cx="82296" cy="566928"/>
          </a:xfrm>
          <a:prstGeom prst="rect">
            <a:avLst/>
          </a:prstGeom>
          <a:solidFill>
            <a:srgbClr val="3FC1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438912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2F7F5"/>
                </a:solidFill>
                <a:latin typeface="Segoe UI Semibold"/>
              </a:rPr>
              <a:t>El asistente TutorUTT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6070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FB4AE"/>
                </a:solidFill>
                <a:latin typeface="Segoe UI"/>
              </a:rPr>
              <a:t>IA local, sin mandar nada a internet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26364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FB4AE"/>
                </a:solidFill>
                <a:latin typeface="Segoe U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691640"/>
            <a:ext cx="10332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3FC19F"/>
                </a:solidFill>
                <a:latin typeface="Segoe UI"/>
              </a:rPr>
              <a:t>▸  </a:t>
            </a:r>
            <a:r>
              <a:rPr sz="1700">
                <a:solidFill>
                  <a:srgbClr val="F2F7F5"/>
                </a:solidFill>
                <a:latin typeface="Segoe UI"/>
              </a:rPr>
              <a:t>El modelo corre en el equipo del administrador, con Ollama.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3FC19F"/>
                </a:solidFill>
                <a:latin typeface="Segoe UI"/>
              </a:rPr>
              <a:t>▸  </a:t>
            </a:r>
            <a:r>
              <a:rPr sz="1700">
                <a:solidFill>
                  <a:srgbClr val="F2F7F5"/>
                </a:solidFill>
                <a:latin typeface="Segoe UI"/>
              </a:rPr>
              <a:t>Ayuda con las materias de la carrera: explica, ejemplifica y propone ejercicios.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3FC19F"/>
                </a:solidFill>
                <a:latin typeface="Segoe UI"/>
              </a:rPr>
              <a:t>▸  </a:t>
            </a:r>
            <a:r>
              <a:rPr sz="1700">
                <a:solidFill>
                  <a:srgbClr val="F2F7F5"/>
                </a:solidFill>
                <a:latin typeface="Segoe UI"/>
              </a:rPr>
              <a:t>Las preguntas no salen de la universidad.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3FC19F"/>
                </a:solidFill>
                <a:latin typeface="Segoe UI"/>
              </a:rPr>
              <a:t>▸  </a:t>
            </a:r>
            <a:r>
              <a:rPr sz="1700">
                <a:solidFill>
                  <a:srgbClr val="F2F7F5"/>
                </a:solidFill>
                <a:latin typeface="Segoe UI"/>
              </a:rPr>
              <a:t>El panel muestra el uso de la tarjeta gráfica en vivo.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3FC19F"/>
                </a:solidFill>
                <a:latin typeface="Segoe UI"/>
              </a:rPr>
              <a:t>▸  </a:t>
            </a:r>
            <a:r>
              <a:rPr sz="1700">
                <a:solidFill>
                  <a:srgbClr val="F2F7F5"/>
                </a:solidFill>
                <a:latin typeface="Segoe UI"/>
              </a:rPr>
              <a:t>Hoy está habilitado solo para el administrador.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02867" y="1655064"/>
            <a:ext cx="2528185" cy="4096512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1F6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3-ia-tutoru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9443" y="1691640"/>
            <a:ext cx="2455033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02920"/>
            <a:ext cx="82296" cy="566928"/>
          </a:xfrm>
          <a:prstGeom prst="rect">
            <a:avLst/>
          </a:prstGeom>
          <a:solidFill>
            <a:srgbClr val="3FC1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438912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2F7F5"/>
                </a:solidFill>
                <a:latin typeface="Segoe UI Semibold"/>
              </a:rPr>
              <a:t>El chat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6070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FB4AE"/>
                </a:solidFill>
                <a:latin typeface="Segoe UI"/>
              </a:rPr>
              <a:t>Conversación entre estudiantes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26364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FB4AE"/>
                </a:solidFill>
                <a:latin typeface="Segoe U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691640"/>
            <a:ext cx="103327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3FC19F"/>
                </a:solidFill>
                <a:latin typeface="Segoe UI"/>
              </a:rPr>
              <a:t>▸  </a:t>
            </a:r>
            <a:r>
              <a:rPr sz="1600">
                <a:solidFill>
                  <a:srgbClr val="F2F7F5"/>
                </a:solidFill>
                <a:latin typeface="Segoe UI"/>
              </a:rPr>
              <a:t>Se abre desde cualquier página, y siempre en la lista de usuarios.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3FC19F"/>
                </a:solidFill>
                <a:latin typeface="Segoe UI"/>
              </a:rPr>
              <a:t>▸  </a:t>
            </a:r>
            <a:r>
              <a:rPr sz="1600">
                <a:solidFill>
                  <a:srgbClr val="F2F7F5"/>
                </a:solidFill>
                <a:latin typeface="Segoe UI"/>
              </a:rPr>
              <a:t>Aviso de «está escribiendo» y marca de «visto».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3FC19F"/>
                </a:solidFill>
                <a:latin typeface="Segoe UI"/>
              </a:rPr>
              <a:t>▸  </a:t>
            </a:r>
            <a:r>
              <a:rPr sz="1600">
                <a:solidFill>
                  <a:srgbClr val="F2F7F5"/>
                </a:solidFill>
                <a:latin typeface="Segoe UI"/>
              </a:rPr>
              <a:t>Contador de mensajes sin leer junto a cada persona.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3FC19F"/>
                </a:solidFill>
                <a:latin typeface="Segoe UI"/>
              </a:rPr>
              <a:t>▸  </a:t>
            </a:r>
            <a:r>
              <a:rPr sz="1600">
                <a:solidFill>
                  <a:srgbClr val="F2F7F5"/>
                </a:solidFill>
                <a:latin typeface="Segoe UI"/>
              </a:rPr>
              <a:t>El «visto» solo se marca cuando de verdad se abre la conversación.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3FC19F"/>
                </a:solidFill>
                <a:latin typeface="Segoe UI"/>
              </a:rPr>
              <a:t>▸  </a:t>
            </a:r>
            <a:r>
              <a:rPr sz="1600">
                <a:solidFill>
                  <a:srgbClr val="F2F7F5"/>
                </a:solidFill>
                <a:latin typeface="Segoe UI"/>
              </a:rPr>
              <a:t>Si estás leyendo, suena el aviso pero no salta la notificación.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3FC19F"/>
                </a:solidFill>
                <a:latin typeface="Segoe UI"/>
              </a:rPr>
              <a:t>▸  </a:t>
            </a:r>
            <a:r>
              <a:rPr sz="1600">
                <a:solidFill>
                  <a:srgbClr val="F2F7F5"/>
                </a:solidFill>
                <a:latin typeface="Segoe UI"/>
              </a:rPr>
              <a:t>Los avisos se pausan cuando la pestaña está en segundo plano.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9984" y="2328843"/>
            <a:ext cx="4828032" cy="2840393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1F6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2-contenedor-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2365419"/>
            <a:ext cx="4754880" cy="276724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02920"/>
            <a:ext cx="82296" cy="566928"/>
          </a:xfrm>
          <a:prstGeom prst="rect">
            <a:avLst/>
          </a:prstGeom>
          <a:solidFill>
            <a:srgbClr val="3FC1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438912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2F7F5"/>
                </a:solidFill>
                <a:latin typeface="Segoe UI Semibold"/>
              </a:rPr>
              <a:t>Hecho para equipos modestos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6070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FB4AE"/>
                </a:solidFill>
                <a:latin typeface="Segoe UI"/>
              </a:rPr>
              <a:t>Cada decisión pensada en un Core 2 Duo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26364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FB4AE"/>
                </a:solidFill>
                <a:latin typeface="Segoe UI"/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783080"/>
            <a:ext cx="3429000" cy="2286000"/>
          </a:xfrm>
          <a:prstGeom prst="roundRect">
            <a:avLst>
              <a:gd name="adj" fmla="val 8000"/>
            </a:avLst>
          </a:prstGeom>
          <a:solidFill>
            <a:srgbClr val="132A26"/>
          </a:solidFill>
          <a:ln w="15875">
            <a:solidFill>
              <a:srgbClr val="3FC1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1947672"/>
            <a:ext cx="302666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FC19F"/>
                </a:solidFill>
                <a:latin typeface="Segoe UI"/>
              </a:rPr>
              <a:t>Detección automática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441448"/>
            <a:ext cx="302666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2F7F5"/>
                </a:solidFill>
                <a:latin typeface="Segoe UI"/>
              </a:rPr>
              <a:t>Si el equipo tiene pocos núcleos o poca memoria, se activa el modo ligero.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783080"/>
            <a:ext cx="3429000" cy="2286000"/>
          </a:xfrm>
          <a:prstGeom prst="roundRect">
            <a:avLst>
              <a:gd name="adj" fmla="val 8000"/>
            </a:avLst>
          </a:prstGeom>
          <a:solidFill>
            <a:srgbClr val="132A26"/>
          </a:solidFill>
          <a:ln w="15875">
            <a:solidFill>
              <a:srgbClr val="3FC1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1947672"/>
            <a:ext cx="302666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FC19F"/>
                </a:solidFill>
                <a:latin typeface="Segoe UI"/>
              </a:rPr>
              <a:t>Menos efectos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441448"/>
            <a:ext cx="302666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2F7F5"/>
                </a:solidFill>
                <a:latin typeface="Segoe UI"/>
              </a:rPr>
              <a:t>Se apagan desenfoques y fondos fijos: es lo que más cuesta dibujar.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1783080"/>
            <a:ext cx="3429000" cy="2286000"/>
          </a:xfrm>
          <a:prstGeom prst="roundRect">
            <a:avLst>
              <a:gd name="adj" fmla="val 8000"/>
            </a:avLst>
          </a:prstGeom>
          <a:solidFill>
            <a:srgbClr val="132A26"/>
          </a:solidFill>
          <a:ln w="15875">
            <a:solidFill>
              <a:srgbClr val="3FC1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6448" y="1947672"/>
            <a:ext cx="302666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FC19F"/>
                </a:solidFill>
                <a:latin typeface="Segoe UI"/>
              </a:rPr>
              <a:t>Menos peticiones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2441448"/>
            <a:ext cx="302666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2F7F5"/>
                </a:solidFill>
                <a:latin typeface="Segoe UI"/>
              </a:rPr>
              <a:t>Los avisos se pausan con la pestaña oculta.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2F7F5"/>
                </a:solidFill>
                <a:latin typeface="Segoe UI"/>
              </a:rPr>
              <a:t>El sondeo es más espaciado.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43484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3FC19F"/>
                </a:solidFill>
                <a:latin typeface="Segoe UI"/>
              </a:rPr>
              <a:t>▸  </a:t>
            </a:r>
            <a:r>
              <a:rPr sz="1500">
                <a:solidFill>
                  <a:srgbClr val="F2F7F5"/>
                </a:solidFill>
                <a:latin typeface="Segoe UI"/>
              </a:rPr>
              <a:t>Fondos a resolución real de pantalla, sin estiramientos.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3FC19F"/>
                </a:solidFill>
                <a:latin typeface="Segoe UI"/>
              </a:rPr>
              <a:t>▸  </a:t>
            </a:r>
            <a:r>
              <a:rPr sz="1500">
                <a:solidFill>
                  <a:srgbClr val="F2F7F5"/>
                </a:solidFill>
                <a:latin typeface="Segoe UI"/>
              </a:rPr>
              <a:t>La hoja del tema entra en el primer dibujado: sin parpadeo al recargar.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02920"/>
            <a:ext cx="82296" cy="566928"/>
          </a:xfrm>
          <a:prstGeom prst="rect">
            <a:avLst/>
          </a:prstGeom>
          <a:solidFill>
            <a:srgbClr val="3FC1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438912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2F7F5"/>
                </a:solidFill>
                <a:latin typeface="Segoe UI Semibold"/>
              </a:rPr>
              <a:t>Seguridad en conjunto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6070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FB4AE"/>
                </a:solidFill>
                <a:latin typeface="Segoe UI"/>
              </a:rPr>
              <a:t>Capas, no una sola puerta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26364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FB4AE"/>
                </a:solidFill>
                <a:latin typeface="Segoe U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73736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3FC19F"/>
                </a:solidFill>
                <a:latin typeface="Segoe UI"/>
              </a:rPr>
              <a:t>▸  </a:t>
            </a:r>
            <a:r>
              <a:rPr sz="1700">
                <a:solidFill>
                  <a:srgbClr val="F2F7F5"/>
                </a:solidFill>
                <a:latin typeface="Segoe UI"/>
              </a:rPr>
              <a:t>HTTPS y cookies seguras en todo el sitio público.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3FC19F"/>
                </a:solidFill>
                <a:latin typeface="Segoe UI"/>
              </a:rPr>
              <a:t>▸  </a:t>
            </a:r>
            <a:r>
              <a:rPr sz="1700">
                <a:solidFill>
                  <a:srgbClr val="F2F7F5"/>
                </a:solidFill>
                <a:latin typeface="Segoe UI"/>
              </a:rPr>
              <a:t>Contraseñas con hash; nunca en texto plano.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3FC19F"/>
                </a:solidFill>
                <a:latin typeface="Segoe UI"/>
              </a:rPr>
              <a:t>▸  </a:t>
            </a:r>
            <a:r>
              <a:rPr sz="1700">
                <a:solidFill>
                  <a:srgbClr val="F2F7F5"/>
                </a:solidFill>
                <a:latin typeface="Segoe UI"/>
              </a:rPr>
              <a:t>Verificación en dos pasos con Google Authenticator.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3FC19F"/>
                </a:solidFill>
                <a:latin typeface="Segoe UI"/>
              </a:rPr>
              <a:t>▸  </a:t>
            </a:r>
            <a:r>
              <a:rPr sz="1700">
                <a:solidFill>
                  <a:srgbClr val="F2F7F5"/>
                </a:solidFill>
                <a:latin typeface="Segoe UI"/>
              </a:rPr>
              <a:t>Permisos de administrador comprobados en el servidor, no en la interfaz.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3FC19F"/>
                </a:solidFill>
                <a:latin typeface="Segoe UI"/>
              </a:rPr>
              <a:t>▸  </a:t>
            </a:r>
            <a:r>
              <a:rPr sz="1700">
                <a:solidFill>
                  <a:srgbClr val="F2F7F5"/>
                </a:solidFill>
                <a:latin typeface="Segoe UI"/>
              </a:rPr>
              <a:t>Límites de peticiones por usuario, no por dirección IP.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3FC19F"/>
                </a:solidFill>
                <a:latin typeface="Segoe UI"/>
              </a:rPr>
              <a:t>▸  </a:t>
            </a:r>
            <a:r>
              <a:rPr sz="1700">
                <a:solidFill>
                  <a:srgbClr val="F2F7F5"/>
                </a:solidFill>
                <a:latin typeface="Segoe UI"/>
              </a:rPr>
              <a:t>Moderación de imágenes y antivirus en cada archivo.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3FC19F"/>
                </a:solidFill>
                <a:latin typeface="Segoe UI"/>
              </a:rPr>
              <a:t>▸  </a:t>
            </a:r>
            <a:r>
              <a:rPr sz="1700">
                <a:solidFill>
                  <a:srgbClr val="F2F7F5"/>
                </a:solidFill>
                <a:latin typeface="Segoe UI"/>
              </a:rPr>
              <a:t>Pases firmados para los escritorios.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02920"/>
            <a:ext cx="82296" cy="566928"/>
          </a:xfrm>
          <a:prstGeom prst="rect">
            <a:avLst/>
          </a:prstGeom>
          <a:solidFill>
            <a:srgbClr val="3FC1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438912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2F7F5"/>
                </a:solidFill>
                <a:latin typeface="Segoe UI Semibold"/>
              </a:rPr>
              <a:t>Así se 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6070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FB4AE"/>
                </a:solidFill>
                <a:latin typeface="Segoe UI"/>
              </a:rPr>
              <a:t>Capturas del sistema en uso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26364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FB4AE"/>
                </a:solidFill>
                <a:latin typeface="Segoe UI"/>
              </a:rP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3437" y="1655064"/>
            <a:ext cx="4859684" cy="2267712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1F6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8-inicio-adm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013" y="1691640"/>
            <a:ext cx="4786532" cy="21945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262487" y="1655064"/>
            <a:ext cx="3397264" cy="2267712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1F6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7-crear-publicac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9063" y="1691640"/>
            <a:ext cx="3324112" cy="21945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461276" y="3986784"/>
            <a:ext cx="3844007" cy="2267712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1F6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12-contenedor-cha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7852" y="4023360"/>
            <a:ext cx="3770855" cy="219456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284581" y="3986784"/>
            <a:ext cx="3353076" cy="2267712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1F6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15-ventana-nuev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1157" y="4023360"/>
            <a:ext cx="3279924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FC1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17320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3FC19F"/>
                </a:solidFill>
                <a:latin typeface="Segoe UI"/>
              </a:rPr>
              <a:t>AWTY  ·  «are we there yet?»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9875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F2F7F5"/>
                </a:solidFill>
                <a:latin typeface="Segoe UI Semibold"/>
              </a:rPr>
              <a:t>¿Ya estamos ahí?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063240"/>
            <a:ext cx="96926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9FB4AE"/>
                </a:solidFill>
                <a:latin typeface="Segoe UI"/>
              </a:rPr>
              <a:t>Este proyecto se hizo para estudiantes que no tienen dinero suficiente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9FB4AE"/>
                </a:solidFill>
                <a:latin typeface="Segoe UI"/>
              </a:rPr>
              <a:t>para cambiar su equipo y necesitan herramientas demandantes.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9FB4AE"/>
                </a:solidFill>
                <a:latin typeface="Segoe UI"/>
              </a:rPr>
              <a:t>No es solo para hoy: lleva la filosofía de Linux,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9FB4AE"/>
                </a:solidFill>
                <a:latin typeface="Segoe UI"/>
              </a:rPr>
              <a:t>de la comunidad para la comunidad.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257800"/>
            <a:ext cx="9875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3FC19F"/>
                </a:solidFill>
                <a:latin typeface="Segoe UI"/>
              </a:rPr>
              <a:t>Francisco González  ·  Virthub 2.0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3FC19F"/>
                </a:solidFill>
                <a:latin typeface="Segoe UI"/>
              </a:rPr>
              <a:t>Universidad Tecnológica de Tula-Tepeji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