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5.png"/><Relationship Id="rId5" Type="http://schemas.openxmlformats.org/officeDocument/2006/relationships/image" Target="../media/image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41732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C19F"/>
                </a:solidFill>
                <a:latin typeface="Segoe UI"/>
              </a:rPr>
              <a:t>UNIVERSIDAD TECNOLÓGICA DE TECÁMAC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874519"/>
            <a:ext cx="100584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7600" b="1">
                <a:solidFill>
                  <a:srgbClr val="F2F7F5"/>
                </a:solidFill>
                <a:latin typeface="Segoe UI Semibold"/>
              </a:rPr>
              <a:t>Virthub 2.0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246120"/>
            <a:ext cx="93268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2400" b="0">
                <a:solidFill>
                  <a:srgbClr val="3FC19F"/>
                </a:solidFill>
                <a:latin typeface="Segoe UI"/>
              </a:rPr>
              <a:t>Escritorios virtuales, foro y chat para estudiantes</a:t>
            </a:r>
          </a:p>
          <a:p>
            <a:pPr algn="l">
              <a:spcAft>
                <a:spcPts val="200"/>
              </a:spcAft>
            </a:pPr>
            <a:r>
              <a:rPr sz="2400" b="0">
                <a:solidFill>
                  <a:srgbClr val="3FC19F"/>
                </a:solidFill>
                <a:latin typeface="Segoe UI"/>
              </a:rPr>
              <a:t>que no pueden cambiar de computadora</a:t>
            </a:r>
          </a:p>
        </p:txBody>
      </p:sp>
      <p:sp>
        <p:nvSpPr>
          <p:cNvPr id="7" name="Rectangle 6"/>
          <p:cNvSpPr/>
          <p:nvPr/>
        </p:nvSpPr>
        <p:spPr>
          <a:xfrm>
            <a:off x="1005840" y="4617720"/>
            <a:ext cx="2926080" cy="45720"/>
          </a:xfrm>
          <a:prstGeom prst="rect">
            <a:avLst/>
          </a:prstGeom>
          <a:solidFill>
            <a:srgbClr val="1F6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489204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4AE"/>
                </a:solidFill>
                <a:latin typeface="Segoe UI"/>
              </a:rPr>
              <a:t>Proyecto integrador  ·  Presentación técnica</a:t>
            </a:r>
          </a:p>
          <a:p>
            <a:pPr algn="l">
              <a:spcAft>
                <a:spcPts val="400"/>
              </a:spcAft>
            </a:pPr>
            <a:r>
              <a:rPr sz="1500" b="0">
                <a:solidFill>
                  <a:srgbClr val="9FB4AE"/>
                </a:solidFill>
                <a:latin typeface="Segoe UI"/>
              </a:rPr>
              <a:t>Francisco González  · 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problema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Lo que nos encontramos en el aula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47672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6C5E"/>
                </a:solidFill>
                <a:latin typeface="Segoe UI"/>
              </a:rPr>
              <a:t>Equipos viejos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41448"/>
            <a:ext cx="298094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Computadoras de hace más de diez años.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2 a 4 GB de memoria.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Procesadores Core 2 Duo o Atom.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8308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47672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Segoe UI"/>
              </a:rPr>
              <a:t>Programas que no corren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441448"/>
            <a:ext cx="298094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Las prácticas piden herramientas pesadas.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No hay presupuesto para renovar equipos.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El estudiante se queda atrás por el hardware.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83080"/>
            <a:ext cx="3383280" cy="32004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4A9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947672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A9FE0"/>
                </a:solidFill>
                <a:latin typeface="Segoe UI"/>
              </a:rPr>
              <a:t>Consecuencia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441448"/>
            <a:ext cx="2980944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Se abandona la práctica.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Se pierde el curso.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Y a veces, la carrera.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5257800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1">
                <a:solidFill>
                  <a:srgbClr val="3FC19F"/>
                </a:solidFill>
                <a:latin typeface="Segoe UI"/>
              </a:rPr>
              <a:t>El talento no debería depender del equipo que cada quien puede pagar.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La idea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¿Y si el trabajo pesado no ocurre en tu computadora?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3736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000" b="0">
                <a:solidFill>
                  <a:srgbClr val="F2F7F5"/>
                </a:solidFill>
                <a:latin typeface="Segoe UI"/>
              </a:rPr>
              <a:t>Virthub lleva la universidad al navegador. El equipo solo dibuja la pantalla.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6517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900">
                <a:solidFill>
                  <a:srgbClr val="3FC19F"/>
                </a:solidFill>
                <a:latin typeface="Segoe UI"/>
              </a:rPr>
              <a:t>▸  </a:t>
            </a:r>
            <a:r>
              <a:rPr sz="1900">
                <a:solidFill>
                  <a:srgbClr val="F2F7F5"/>
                </a:solidFill>
                <a:latin typeface="Segoe UI"/>
              </a:rPr>
              <a:t>Todo el procesamiento ocurre en el servidor.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FC19F"/>
                </a:solidFill>
                <a:latin typeface="Segoe UI"/>
              </a:rPr>
              <a:t>▸  </a:t>
            </a:r>
            <a:r>
              <a:rPr sz="1900">
                <a:solidFill>
                  <a:srgbClr val="F2F7F5"/>
                </a:solidFill>
                <a:latin typeface="Segoe UI"/>
              </a:rPr>
              <a:t>El estudiante usa programas actuales desde cualquier equipo.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FC19F"/>
                </a:solidFill>
                <a:latin typeface="Segoe UI"/>
              </a:rPr>
              <a:t>▸  </a:t>
            </a:r>
            <a:r>
              <a:rPr sz="1900">
                <a:solidFill>
                  <a:srgbClr val="F2F7F5"/>
                </a:solidFill>
                <a:latin typeface="Segoe UI"/>
              </a:rPr>
              <a:t>La misma cuenta sirve para el foro, el chat y el escritorio.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FC19F"/>
                </a:solidFill>
                <a:latin typeface="Segoe UI"/>
              </a:rPr>
              <a:t>▸  </a:t>
            </a:r>
            <a:r>
              <a:rPr sz="1900">
                <a:solidFill>
                  <a:srgbClr val="F2F7F5"/>
                </a:solidFill>
                <a:latin typeface="Segoe UI"/>
              </a:rPr>
              <a:t>Funciona en Windows antiguo, Linux ligero o un equipo prestado.</a:t>
            </a:r>
          </a:p>
          <a:p>
            <a:pPr>
              <a:spcAft>
                <a:spcPts val="1000"/>
              </a:spcAft>
            </a:pPr>
            <a:r>
              <a:rPr sz="1900">
                <a:solidFill>
                  <a:srgbClr val="3FC19F"/>
                </a:solidFill>
                <a:latin typeface="Segoe UI"/>
              </a:rPr>
              <a:t>▸  </a:t>
            </a:r>
            <a:r>
              <a:rPr sz="1900">
                <a:solidFill>
                  <a:srgbClr val="F2F7F5"/>
                </a:solidFill>
                <a:latin typeface="Segoe UI"/>
              </a:rPr>
              <a:t>Sin instalar nada: solo un navegador.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Arquitectura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Servicios independientes, todos en Docker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965960"/>
            <a:ext cx="2103120" cy="13716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9FB4A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130552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9FB4AE"/>
                </a:solidFill>
                <a:latin typeface="Segoe UI"/>
              </a:rPr>
              <a:t>Navegador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8" y="2624328"/>
            <a:ext cx="170078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Solo dibuja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la pantalla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788920" y="2487168"/>
            <a:ext cx="685800" cy="320040"/>
          </a:xfrm>
          <a:prstGeom prst="rightArrow">
            <a:avLst/>
          </a:prstGeom>
          <a:solidFill>
            <a:srgbClr val="3FC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566160" y="1965960"/>
            <a:ext cx="2286000" cy="13716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130552"/>
            <a:ext cx="1883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Caddy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67328" y="2624328"/>
            <a:ext cx="18836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Proxy inverso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Control de acceso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5943600" y="2487168"/>
            <a:ext cx="685800" cy="320040"/>
          </a:xfrm>
          <a:prstGeom prst="rightArrow">
            <a:avLst/>
          </a:prstGeom>
          <a:solidFill>
            <a:srgbClr val="3FC19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720840" y="1965960"/>
            <a:ext cx="2377440" cy="13716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22007" y="2130552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Aplicación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22007" y="2624328"/>
            <a:ext cx="197510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Laravel 13</a:t>
            </a:r>
          </a:p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PHP 8.4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" y="3977639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4A9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69848" y="4142231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A9FE0"/>
                </a:solidFill>
                <a:latin typeface="Segoe UI"/>
              </a:rPr>
              <a:t>MariaDB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9848" y="4636007"/>
            <a:ext cx="19751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Usuarios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Publicaciones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520440" y="3977639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21608" y="4142231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Segoe UI"/>
              </a:rPr>
              <a:t>Sherlock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21608" y="4636007"/>
            <a:ext cx="19751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Moderación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de imágenes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72200" y="3977639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73368" y="4142231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6C5E"/>
                </a:solidFill>
                <a:latin typeface="Segoe UI"/>
              </a:rPr>
              <a:t>ClamAV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73368" y="4636007"/>
            <a:ext cx="19751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Antivirus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de archivos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23960" y="3977639"/>
            <a:ext cx="2377440" cy="14630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25128" y="4142231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Escritorios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25128" y="4636007"/>
            <a:ext cx="1975104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Webtop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ct0 … ctN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AE"/>
                </a:solidFill>
                <a:latin typeface="Segoe UI"/>
              </a:rPr>
              <a:t>Cada servicio se puede reiniciar sin tumbar los demás.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Con qué está hecho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Tecnologías del proyecto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83080"/>
            <a:ext cx="1033272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PHP 8.4 con Laravel 13: toda la lógica de la aplicación.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MariaDB 11.4: cuentas, publicaciones y reportes.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Docker: cada pieza en su contenedor.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Caddy: proxy inverso y control de acceso.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Cloudflare Tunnel: publica el sitio sin abrir puertos.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Nginx y PHP-FPM dentro del contenedor de la aplicación.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Ollama: modelo de lenguaje local para el asistente.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Python: los servicios de moderación de imágenes.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C19F"/>
                </a:solidFill>
                <a:latin typeface="Segoe UI"/>
              </a:rPr>
              <a:t>PARTE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2F7F5"/>
                </a:solidFill>
                <a:latin typeface="Segoe UI Semibold"/>
              </a:rPr>
              <a:t>Escritorios virtuales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4AE"/>
                </a:solidFill>
                <a:latin typeface="Segoe UI"/>
              </a:rPr>
              <a:t>Un contenedor por estudiante, entregado por el proxy solo a su dueño.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Los escritorios Webtop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Un contenedor por persona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Cada escritorio es un contenedor Linux independiente: ct0, ct1, ct2…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Lleva escritorio Ubuntu MATE, ofimática, navegador y editor.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La aplicación decide qué contenedor le toca a cada cuenta.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El navegador solo recibe la imagen: el trabajo ocurre en el servidor.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El administrador puede probar cada escritorio desde el panel.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12229" y="3941063"/>
            <a:ext cx="3737060" cy="222199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4-escritorio-web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8805" y="3977639"/>
            <a:ext cx="3663908" cy="214884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problema de acceso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Por qué no bastaba la cookie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83080"/>
            <a:ext cx="4937760" cy="20116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47672"/>
            <a:ext cx="4535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6C5E"/>
                </a:solidFill>
                <a:latin typeface="Segoe UI"/>
              </a:rPr>
              <a:t>Lo que pasaba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441448"/>
            <a:ext cx="453542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La comprobación dependía de la cookie de sesión.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La cookie no siempre viaja al subdominio del escritorio.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Resultado: 403 al abrir tu propio escritorio.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09360" y="1783080"/>
            <a:ext cx="5029200" cy="20116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947672"/>
            <a:ext cx="4626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Segoe UI"/>
              </a:rPr>
              <a:t>Lo que no se podía hacer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441448"/>
            <a:ext cx="46268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Quitar la comprobación.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Porque entonces cualquiera con la dirección entra.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Incluido el escritorio de otro.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16052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2100" b="1">
                <a:solidFill>
                  <a:srgbClr val="3FC19F"/>
                </a:solidFill>
                <a:latin typeface="Segoe UI"/>
              </a:rPr>
              <a:t>Había que resolver las dos cosas a la vez: que el dueño entre y que nadie más entre.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La solución: un pase firmado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Un enlace que no se puede fabricar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68680" y="17373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69848" y="1901952"/>
            <a:ext cx="2889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Firmado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2395728"/>
            <a:ext cx="28895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Con la clave de la aplicación.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Si alguien lo altera, deja de valer.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291840" cy="23774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01952"/>
            <a:ext cx="28895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Con caducidad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95728"/>
            <a:ext cx="288950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8 horas de validez.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Una dirección copiada deja de servir.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01000" y="1737360"/>
            <a:ext cx="3383280" cy="237744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02168" y="1901952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Atado al dueño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02168" y="2395728"/>
            <a:ext cx="2980944" cy="1554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Va ligado al usuario y a su escritorio.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El pase de uno no abre el de otro.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43484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F2F7F5"/>
                </a:solidFill>
                <a:latin typeface="Segoe UI"/>
              </a:rPr>
              <a:t>Y viaja en la dirección, no en una cookie: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983480"/>
            <a:ext cx="104241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3FC19F"/>
                </a:solidFill>
                <a:latin typeface="Segoe UI"/>
              </a:rPr>
              <a:t>…/contenedor/ventana?pase=firma&amp;usuario=frank&amp;contenedor=ct3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control de acceso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Cinco pasos antes de entregar un escritorio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10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1783080"/>
            <a:ext cx="457200" cy="457200"/>
          </a:xfrm>
          <a:prstGeom prst="ellipse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A18"/>
                </a:solidFill>
                <a:latin typeface="Segoe U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00200" y="1764792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7F5"/>
                </a:solidFill>
                <a:latin typeface="Segoe UI"/>
              </a:rPr>
              <a:t>El navegador pide el escritorio con su pase.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2624328"/>
            <a:ext cx="457200" cy="457200"/>
          </a:xfrm>
          <a:prstGeom prst="ellipse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A18"/>
                </a:solidFill>
                <a:latin typeface="Segoe U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2606040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7F5"/>
                </a:solidFill>
                <a:latin typeface="Segoe UI"/>
              </a:rPr>
              <a:t>Caddy añade la cabecera X-Container.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465576"/>
            <a:ext cx="457200" cy="457200"/>
          </a:xfrm>
          <a:prstGeom prst="ellipse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A18"/>
                </a:solidFill>
                <a:latin typeface="Segoe UI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00200" y="3447288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7F5"/>
                </a:solidFill>
                <a:latin typeface="Segoe UI"/>
              </a:rPr>
              <a:t>Caddy pregunta a /internal/proxy-auth.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4306824"/>
            <a:ext cx="457200" cy="457200"/>
          </a:xfrm>
          <a:prstGeom prst="ellipse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A18"/>
                </a:solidFill>
                <a:latin typeface="Segoe UI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4288536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7F5"/>
                </a:solidFill>
                <a:latin typeface="Segoe UI"/>
              </a:rPr>
              <a:t>La aplicación valida firma, fecha y dueño.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5148072"/>
            <a:ext cx="457200" cy="457200"/>
          </a:xfrm>
          <a:prstGeom prst="ellipse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600" b="1">
                <a:solidFill>
                  <a:srgbClr val="0C1A18"/>
                </a:solidFill>
                <a:latin typeface="Segoe U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5129784"/>
            <a:ext cx="95097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700" b="0">
                <a:solidFill>
                  <a:srgbClr val="F2F7F5"/>
                </a:solidFill>
                <a:latin typeface="Segoe UI"/>
              </a:rPr>
              <a:t>Responde 200 o 403. Caddy entrega o niega.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98932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>
                <a:solidFill>
                  <a:srgbClr val="9FB4AE"/>
                </a:solidFill>
                <a:latin typeface="Segoe UI"/>
              </a:rPr>
              <a:t>El nombre del contenedor lo pone Caddy, no el navegador: no se puede falsear.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C19F"/>
                </a:solidFill>
                <a:latin typeface="Segoe UI"/>
              </a:rPr>
              <a:t>PARTE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2F7F5"/>
                </a:solidFill>
                <a:latin typeface="Segoe UI Semibold"/>
              </a:rPr>
              <a:t>Moderación de imágenes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4AE"/>
                </a:solidFill>
                <a:latin typeface="Segoe UI"/>
              </a:rPr>
              <a:t>NSFW-Sherlock revisa cada foto antes de publicarse.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NSFW-Sherlock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Un servicio aparte, con una sola tarea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Analiza una imagen y estima si es contenido no apto.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Corre en su propio contenedor, sin publicar puertos.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Solo se llega a él desde la red interna de Docker.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La aplicación le habla por HTTP y le manda la imagen.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La decisión de publicar o no es de la aplicación, no del servicio.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343400"/>
            <a:ext cx="9601200" cy="13716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81328" y="4507992"/>
            <a:ext cx="9198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¿Por qué separarlo?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5001768"/>
            <a:ext cx="9198864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Se puede cambiar el modelo sin tocar la aplicación, y ajustar la sensibilidad sin reentrenar nada.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flujo de una revisión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Qué ocurre cuando alguien sube una foto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01168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04088" y="2176272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Sube la foto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670048"/>
            <a:ext cx="170078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El usuario publica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642615" y="2697480"/>
            <a:ext cx="201168" cy="274320"/>
          </a:xfrm>
          <a:prstGeom prst="rightArrow">
            <a:avLst/>
          </a:prstGeom>
          <a:solidFill>
            <a:srgbClr val="9FB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843784" y="201168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4A9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44952" y="2176272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4A9FE0"/>
                </a:solidFill>
                <a:latin typeface="Segoe UI"/>
              </a:rPr>
              <a:t>Temporal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44952" y="2670048"/>
            <a:ext cx="170078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La aplicación la guarda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983480" y="2697480"/>
            <a:ext cx="201168" cy="274320"/>
          </a:xfrm>
          <a:prstGeom prst="rightArrow">
            <a:avLst/>
          </a:prstGeom>
          <a:solidFill>
            <a:srgbClr val="9FB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184648" y="201168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85816" y="2176272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Segoe UI"/>
              </a:rPr>
              <a:t>Sherlock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85816" y="2670048"/>
            <a:ext cx="170078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Devuelve puntuaciones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324344" y="2697480"/>
            <a:ext cx="201168" cy="274320"/>
          </a:xfrm>
          <a:prstGeom prst="rightArrow">
            <a:avLst/>
          </a:prstGeom>
          <a:solidFill>
            <a:srgbClr val="9FB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25512" y="201168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26680" y="2176272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Segoe UI"/>
              </a:rPr>
              <a:t>Umbral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26680" y="2670048"/>
            <a:ext cx="170078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0 a 1, ajustable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665208" y="2697480"/>
            <a:ext cx="201168" cy="274320"/>
          </a:xfrm>
          <a:prstGeom prst="rightArrow">
            <a:avLst/>
          </a:prstGeom>
          <a:solidFill>
            <a:srgbClr val="9FB4A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866376" y="2011680"/>
            <a:ext cx="2103120" cy="17373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67544" y="2176272"/>
            <a:ext cx="17007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06C5E"/>
                </a:solidFill>
                <a:latin typeface="Segoe UI"/>
              </a:rPr>
              <a:t>Decisión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67544" y="2670048"/>
            <a:ext cx="1700784" cy="9143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Publica o rechaza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80" y="416052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E06C5E"/>
                </a:solidFill>
                <a:latin typeface="Segoe UI"/>
              </a:rPr>
              <a:t>Si supera el umbral: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1772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400">
                <a:solidFill>
                  <a:srgbClr val="3FC19F"/>
                </a:solidFill>
                <a:latin typeface="Segoe UI"/>
              </a:rPr>
              <a:t>▸  </a:t>
            </a:r>
            <a:r>
              <a:rPr sz="1400">
                <a:solidFill>
                  <a:srgbClr val="F2F7F5"/>
                </a:solidFill>
                <a:latin typeface="Segoe UI"/>
              </a:rPr>
              <a:t>La imagen se borra y no se publica.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FC19F"/>
                </a:solidFill>
                <a:latin typeface="Segoe UI"/>
              </a:rPr>
              <a:t>▸  </a:t>
            </a:r>
            <a:r>
              <a:rPr sz="1400">
                <a:solidFill>
                  <a:srgbClr val="F2F7F5"/>
                </a:solidFill>
                <a:latin typeface="Segoe UI"/>
              </a:rPr>
              <a:t>El usuario recibe un aviso explicando qué pasó.</a:t>
            </a:r>
          </a:p>
          <a:p>
            <a:pPr>
              <a:spcAft>
                <a:spcPts val="1000"/>
              </a:spcAft>
            </a:pPr>
            <a:r>
              <a:rPr sz="1400">
                <a:solidFill>
                  <a:srgbClr val="3FC19F"/>
                </a:solidFill>
                <a:latin typeface="Segoe UI"/>
              </a:rPr>
              <a:t>▸  </a:t>
            </a:r>
            <a:r>
              <a:rPr sz="1400">
                <a:solidFill>
                  <a:srgbClr val="F2F7F5"/>
                </a:solidFill>
                <a:latin typeface="Segoe UI"/>
              </a:rPr>
              <a:t>El administrador queda enterado para revisarlo.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umbral: dónde ponerlo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La herramienta propone, la persona decide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182880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98448" y="199339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3FC19F"/>
                </a:solidFill>
                <a:latin typeface="Segoe UI"/>
              </a:rPr>
              <a:t>0.90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98448" y="2487168"/>
            <a:ext cx="2340864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Muy permisivo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0" y="214884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4AE"/>
                </a:solidFill>
                <a:latin typeface="Segoe UI"/>
              </a:rPr>
              <a:t>Solo lo evidente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97280" y="315468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331927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8A33D"/>
                </a:solidFill>
                <a:latin typeface="Segoe UI"/>
              </a:rPr>
              <a:t>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98448" y="3813048"/>
            <a:ext cx="2340864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Equilibrado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0" y="347472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4AE"/>
                </a:solidFill>
                <a:latin typeface="Segoe UI"/>
              </a:rPr>
              <a:t>Recomendado en clase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97280" y="4480560"/>
            <a:ext cx="2743200" cy="10515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98448" y="4645152"/>
            <a:ext cx="2340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2600" b="1">
                <a:solidFill>
                  <a:srgbClr val="E06C5E"/>
                </a:solidFill>
                <a:latin typeface="Segoe UI"/>
              </a:rPr>
              <a:t>0.60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98448" y="5138928"/>
            <a:ext cx="2340864" cy="22859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F2F7F5"/>
                </a:solidFill>
                <a:latin typeface="Segoe UI"/>
              </a:rPr>
              <a:t>Estricto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114800" y="4800600"/>
            <a:ext cx="5486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4AE"/>
                </a:solidFill>
                <a:latin typeface="Segoe UI"/>
              </a:rPr>
              <a:t>Etapas con reportes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E8A33D"/>
                </a:solidFill>
                <a:latin typeface="Segoe UI"/>
              </a:rPr>
              <a:t>Es una revisión probabilística: puede equivocarse. Ante una duda, revisar a mano.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214884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C19F"/>
                </a:solidFill>
                <a:latin typeface="Segoe UI"/>
              </a:rPr>
              <a:t>PARTE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514600"/>
            <a:ext cx="104241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800" b="1">
                <a:solidFill>
                  <a:srgbClr val="F2F7F5"/>
                </a:solidFill>
                <a:latin typeface="Segoe UI Semibold"/>
              </a:rPr>
              <a:t>Antivirus de archivos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566160"/>
            <a:ext cx="96926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9FB4AE"/>
                </a:solidFill>
                <a:latin typeface="Segoe UI"/>
              </a:rPr>
              <a:t>ClamAV revisa cada archivo antes de darlo por bueno.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ClamAV: cómo se escanea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Por socket, sin compartir archivos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33272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La subida llega por trozos; al terminar se juntan en un archivo temporal.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Ese archivo se envía al antivirus con el comando INSTREAM.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Se manda en bloques de 64 KB, sin copiar el archivo al otro contenedor.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ClamAV responde: limpio, o con el nombre del virus.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Solo si está limpio se mueve a su destino definitivo.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617720"/>
            <a:ext cx="4937760" cy="118872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69848" y="4782312"/>
            <a:ext cx="4535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INSTREAM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5276088"/>
            <a:ext cx="45354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Evita compartir el sistema de archivos entre contenedores.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4617720"/>
            <a:ext cx="5029200" cy="118872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4A9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10528" y="4782312"/>
            <a:ext cx="46268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4A9FE0"/>
                </a:solidFill>
                <a:latin typeface="Segoe UI"/>
              </a:rPr>
              <a:t>Base de firmas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0528" y="5276088"/>
            <a:ext cx="46268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Unos 300 MB, guardados en un volumen para no repetir la descarga.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Si el antivirus no responde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Una decisión de criterio, no técnica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05840" y="1828800"/>
            <a:ext cx="4846320" cy="29260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07008" y="1993392"/>
            <a:ext cx="44439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8A33D"/>
                </a:solidFill>
                <a:latin typeface="Segoe UI"/>
              </a:rPr>
              <a:t>Modo abierto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8" y="2487168"/>
            <a:ext cx="4443983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El archivo pasa.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El incidente queda en el registro.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Recomendado en un grupo de clase: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un servicio caído no debe impedir subir apuntes.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828800"/>
            <a:ext cx="4846320" cy="29260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01968" y="1993392"/>
            <a:ext cx="4443983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E06C5E"/>
                </a:solidFill>
                <a:latin typeface="Segoe UI"/>
              </a:rPr>
              <a:t>Modo cerrado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01968" y="2487168"/>
            <a:ext cx="4443983" cy="21031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El archivo se rechaza.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El usuario recibe el motivo.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Recomendado cuando hay riesgo real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F2F7F5"/>
                </a:solidFill>
                <a:latin typeface="Segoe UI"/>
              </a:rPr>
              <a:t>de malware.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5074920"/>
            <a:ext cx="104241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700" b="0">
                <a:solidFill>
                  <a:srgbClr val="9FB4AE"/>
                </a:solidFill>
                <a:latin typeface="Segoe UI"/>
              </a:rPr>
              <a:t>Se configura con una variable de entorno, sin tocar código.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Subidas de hasta 5 GB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Por trozos, con reanudación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Los archivos se parten en trozos de 8 MB.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Si se corta la conexión, el avance se conserva.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Se puede reanudar donde se quedó.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El botón Cancelar detiene la subida y no deja restos.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3FC19F"/>
                </a:solidFill>
                <a:latin typeface="Segoe UI"/>
              </a:rPr>
              <a:t>▸  </a:t>
            </a:r>
            <a:r>
              <a:rPr sz="1800">
                <a:solidFill>
                  <a:srgbClr val="F2F7F5"/>
                </a:solidFill>
                <a:latin typeface="Segoe UI"/>
              </a:rPr>
              <a:t>Al terminar, el archivo completo pasa por el antivirus.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diseño: Redmond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Cinco épocas de Windows, treinta esquemas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39751" y="1700784"/>
            <a:ext cx="4321296" cy="400507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4-temas-carrus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6327" y="1737360"/>
            <a:ext cx="4248144" cy="393192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815584" y="2346617"/>
            <a:ext cx="5742432" cy="2713404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05-inicio-admin-calendar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2160" y="2383193"/>
            <a:ext cx="5669280" cy="2640252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868680" y="5852160"/>
            <a:ext cx="104241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XP, Vista, 7, 8 y 10, con seis esquemas cada uno. El tema se recuerda por navegador.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¿Por qué Redmond?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Una decisión de diseño, no un capricho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83080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47672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Ya lo conocemos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41448"/>
            <a:ext cx="224942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Aprendimos a usar una computadora en XP, Vista o 7.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La barra, el cristal y los botones no se estudian: se reconocen.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520440" y="1783080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21608" y="1947672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Nada que aprender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21608" y="2441448"/>
            <a:ext cx="224942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La interfaz no compite con el contenido.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El estudiante entra a trabajar, no a descubrir un sistema.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783080"/>
            <a:ext cx="2651760" cy="19659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56248" y="1947672"/>
            <a:ext cx="22494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3FC19F"/>
                </a:solidFill>
                <a:latin typeface="Segoe UI"/>
              </a:rPr>
              <a:t>Coherente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441448"/>
            <a:ext cx="224942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Bordes, degradados y tipografía.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Nada que pida una tarjeta gráfica moderna.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89720" y="1783080"/>
            <a:ext cx="2377440" cy="196596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90888" y="1947672"/>
            <a:ext cx="1975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E8A33D"/>
                </a:solidFill>
                <a:latin typeface="Segoe UI"/>
              </a:rPr>
              <a:t>Un homenaje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90888" y="2441448"/>
            <a:ext cx="1975104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Se ve como la computadora que inspiró el proyecto.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1605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FC19F"/>
                </a:solidFill>
                <a:latin typeface="Segoe UI"/>
              </a:rPr>
              <a:t>Sería incoherente vestir con un diseño que exige una pantalla nueva</a:t>
            </a:r>
          </a:p>
          <a:p>
            <a:pPr algn="ctr">
              <a:spcAft>
                <a:spcPts val="400"/>
              </a:spcAft>
            </a:pPr>
            <a:r>
              <a:rPr sz="2000" b="1">
                <a:solidFill>
                  <a:srgbClr val="3FC19F"/>
                </a:solidFill>
                <a:latin typeface="Segoe UI"/>
              </a:rPr>
              <a:t>un proyecto hecho para quien no puede cambiar de computadora.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8680" y="5486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600"/>
              </a:spcAft>
            </a:pPr>
            <a:r>
              <a:rPr sz="1300" b="0">
                <a:solidFill>
                  <a:srgbClr val="9FB4AE"/>
                </a:solidFill>
                <a:latin typeface="Segoe UI"/>
              </a:rPr>
              <a:t>La nostalgia aquí no es decoración: es una forma de decir que ese equipo, y quien lo usa, todavía tienen lugar.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De la 1.0 a la 2.0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Lo que trajo esta versión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73736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901952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C19F"/>
                </a:solidFill>
                <a:latin typeface="Segoe UI"/>
              </a:rPr>
              <a:t>Diseño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395728"/>
            <a:ext cx="31181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30 esquemas en 5 épocas.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Carrusel de temas.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Sin parpadeo al recargar.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34840" y="1737360"/>
            <a:ext cx="3520440" cy="210312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4A9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36007" y="1901952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9FE0"/>
                </a:solidFill>
                <a:latin typeface="Segoe UI"/>
              </a:rPr>
              <a:t>Foro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6007" y="2395728"/>
            <a:ext cx="311810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Avatares en publicaciones.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Descarga con nombre original.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Cancelar subidas · borrar adjuntos.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79" y="1737360"/>
            <a:ext cx="3383280" cy="210312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85048" y="1901952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3FC19F"/>
                </a:solidFill>
                <a:latin typeface="Segoe UI"/>
              </a:rPr>
              <a:t>Chat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85048" y="2395728"/>
            <a:ext cx="2980944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«Está escribiendo» y «visto».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Contador de no leídos.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Sonido corregido · abre en Usuarios.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40690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8A3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233672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8A33D"/>
                </a:solidFill>
                <a:latin typeface="Segoe UI"/>
              </a:rPr>
              <a:t>Escritorio e 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27448"/>
            <a:ext cx="311810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Ventana nueva y recarga.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Pase firmado que caduca.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TutorUTT local (solo admin).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34840" y="4069080"/>
            <a:ext cx="3520440" cy="20116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4A9F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7" y="4233672"/>
            <a:ext cx="31181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4A9FE0"/>
                </a:solidFill>
                <a:latin typeface="Segoe UI"/>
              </a:rPr>
              <a:t>Rendimiento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7" y="4727448"/>
            <a:ext cx="311810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Modo ligero automático.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Fondos a 1080p reales.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Sondeos en pausa.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79" y="4069080"/>
            <a:ext cx="3383280" cy="201168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E06C5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85048" y="4233672"/>
            <a:ext cx="298094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1">
                <a:solidFill>
                  <a:srgbClr val="E06C5E"/>
                </a:solidFill>
                <a:latin typeface="Segoe UI"/>
              </a:rPr>
              <a:t>Seguridad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85048" y="4727448"/>
            <a:ext cx="298094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2FA con Authenticator.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Límites por usuario.</a:t>
            </a:r>
          </a:p>
          <a:p>
            <a:pPr algn="l">
              <a:spcAft>
                <a:spcPts val="400"/>
              </a:spcAft>
            </a:pPr>
            <a:r>
              <a:rPr sz="1100" b="0">
                <a:solidFill>
                  <a:srgbClr val="F2F7F5"/>
                </a:solidFill>
                <a:latin typeface="Segoe UI"/>
              </a:rPr>
              <a:t>Monitor del sistema: solo admin.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asistente TutorUTT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IA local, sin mandar nada a internet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33272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El modelo corre en el equipo del administrador, con Ollama.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Ayuda con las materias de la carrera: explica, ejemplifica y propone ejercicios.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Las preguntas no salen de la universidad.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El panel muestra el uso de la tarjeta gráfica en vivo.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Hoy está habilitado solo para el administrador.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702867" y="1655064"/>
            <a:ext cx="2528185" cy="409651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3-ia-tutorut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9443" y="1691640"/>
            <a:ext cx="2455033" cy="402336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El chat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Conversación entre estudiantes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691640"/>
            <a:ext cx="103327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>
                <a:solidFill>
                  <a:srgbClr val="3FC19F"/>
                </a:solidFill>
                <a:latin typeface="Segoe UI"/>
              </a:rPr>
              <a:t>▸  </a:t>
            </a:r>
            <a:r>
              <a:rPr sz="1600">
                <a:solidFill>
                  <a:srgbClr val="F2F7F5"/>
                </a:solidFill>
                <a:latin typeface="Segoe UI"/>
              </a:rPr>
              <a:t>Se abre desde cualquier página, y siempre en la lista de usuarios.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FC19F"/>
                </a:solidFill>
                <a:latin typeface="Segoe UI"/>
              </a:rPr>
              <a:t>▸  </a:t>
            </a:r>
            <a:r>
              <a:rPr sz="1600">
                <a:solidFill>
                  <a:srgbClr val="F2F7F5"/>
                </a:solidFill>
                <a:latin typeface="Segoe UI"/>
              </a:rPr>
              <a:t>Aviso de «está escribiendo» y marca de «visto».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FC19F"/>
                </a:solidFill>
                <a:latin typeface="Segoe UI"/>
              </a:rPr>
              <a:t>▸  </a:t>
            </a:r>
            <a:r>
              <a:rPr sz="1600">
                <a:solidFill>
                  <a:srgbClr val="F2F7F5"/>
                </a:solidFill>
                <a:latin typeface="Segoe UI"/>
              </a:rPr>
              <a:t>Contador de mensajes sin leer junto a cada persona.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FC19F"/>
                </a:solidFill>
                <a:latin typeface="Segoe UI"/>
              </a:rPr>
              <a:t>▸  </a:t>
            </a:r>
            <a:r>
              <a:rPr sz="1600">
                <a:solidFill>
                  <a:srgbClr val="F2F7F5"/>
                </a:solidFill>
                <a:latin typeface="Segoe UI"/>
              </a:rPr>
              <a:t>El «visto» solo se marca cuando de verdad se abre la conversación.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FC19F"/>
                </a:solidFill>
                <a:latin typeface="Segoe UI"/>
              </a:rPr>
              <a:t>▸  </a:t>
            </a:r>
            <a:r>
              <a:rPr sz="1600">
                <a:solidFill>
                  <a:srgbClr val="F2F7F5"/>
                </a:solidFill>
                <a:latin typeface="Segoe UI"/>
              </a:rPr>
              <a:t>Si estás leyendo, suena el aviso pero no salta la notificación.</a:t>
            </a:r>
          </a:p>
          <a:p>
            <a:pPr>
              <a:spcAft>
                <a:spcPts val="1000"/>
              </a:spcAft>
            </a:pPr>
            <a:r>
              <a:rPr sz="1600">
                <a:solidFill>
                  <a:srgbClr val="3FC19F"/>
                </a:solidFill>
                <a:latin typeface="Segoe UI"/>
              </a:rPr>
              <a:t>▸  </a:t>
            </a:r>
            <a:r>
              <a:rPr sz="1600">
                <a:solidFill>
                  <a:srgbClr val="F2F7F5"/>
                </a:solidFill>
                <a:latin typeface="Segoe UI"/>
              </a:rPr>
              <a:t>Los avisos se pausan cuando la pestaña está en segundo plano.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29984" y="2328843"/>
            <a:ext cx="4828032" cy="2840393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12-contenedor-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2365419"/>
            <a:ext cx="4754880" cy="2767241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Hecho para equipos modestos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Cada decisión pensada en un Core 2 Duo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178308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24128" y="194767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Detección automática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" y="2441448"/>
            <a:ext cx="302666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Si el equipo tiene pocos núcleos o poca memoria, se activa el modo ligero.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78308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94767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Menos efectos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2441448"/>
            <a:ext cx="302666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Se apagan desenfoques y fondos fijos: es lo que más cuesta dibujar.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55279" y="1783080"/>
            <a:ext cx="3429000" cy="2286000"/>
          </a:xfrm>
          <a:prstGeom prst="roundRect">
            <a:avLst>
              <a:gd name="adj" fmla="val 8000"/>
            </a:avLst>
          </a:prstGeom>
          <a:solidFill>
            <a:srgbClr val="132A26"/>
          </a:solidFill>
          <a:ln w="15875">
            <a:solidFill>
              <a:srgbClr val="3FC19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947672"/>
            <a:ext cx="3026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1">
                <a:solidFill>
                  <a:srgbClr val="3FC19F"/>
                </a:solidFill>
                <a:latin typeface="Segoe UI"/>
              </a:rPr>
              <a:t>Menos peticiones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6448" y="2441448"/>
            <a:ext cx="3026664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Los avisos se pausan con la pestaña oculta.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F2F7F5"/>
                </a:solidFill>
                <a:latin typeface="Segoe UI"/>
              </a:rPr>
              <a:t>El sondeo es más espaciado.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4348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3FC19F"/>
                </a:solidFill>
                <a:latin typeface="Segoe UI"/>
              </a:rPr>
              <a:t>▸  </a:t>
            </a:r>
            <a:r>
              <a:rPr sz="1500">
                <a:solidFill>
                  <a:srgbClr val="F2F7F5"/>
                </a:solidFill>
                <a:latin typeface="Segoe UI"/>
              </a:rPr>
              <a:t>Fondos a resolución real de pantalla, sin estiramientos.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3FC19F"/>
                </a:solidFill>
                <a:latin typeface="Segoe UI"/>
              </a:rPr>
              <a:t>▸  </a:t>
            </a:r>
            <a:r>
              <a:rPr sz="1500">
                <a:solidFill>
                  <a:srgbClr val="F2F7F5"/>
                </a:solidFill>
                <a:latin typeface="Segoe UI"/>
              </a:rPr>
              <a:t>La hoja del tema entra en el primer dibujado: sin parpadeo al recargar.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Seguridad en conjunto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Capas, no una sola puerta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03327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HTTPS y cookies seguras en todo el sitio público.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Contraseñas con hash; nunca en texto plano.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Verificación en dos pasos con Google Authenticator.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Permisos de administrador comprobados en el servidor, no en la interfaz.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Límites de peticiones por usuario, no por dirección IP.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Moderación de imágenes y antivirus en cada archivo.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3FC19F"/>
                </a:solidFill>
                <a:latin typeface="Segoe UI"/>
              </a:rPr>
              <a:t>▸  </a:t>
            </a:r>
            <a:r>
              <a:rPr sz="1700">
                <a:solidFill>
                  <a:srgbClr val="F2F7F5"/>
                </a:solidFill>
                <a:latin typeface="Segoe UI"/>
              </a:rPr>
              <a:t>Pases firmados para los escritorios.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02920"/>
            <a:ext cx="82296" cy="566928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438912"/>
            <a:ext cx="102412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3000" b="1">
                <a:solidFill>
                  <a:srgbClr val="F2F7F5"/>
                </a:solidFill>
                <a:latin typeface="Segoe UI Semibold"/>
              </a:rPr>
              <a:t>Así se 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1060704"/>
            <a:ext cx="102412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0">
                <a:solidFill>
                  <a:srgbClr val="9FB4AE"/>
                </a:solidFill>
                <a:latin typeface="Segoe UI"/>
              </a:rPr>
              <a:t>Capturas del sistema en uso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64240" y="6263640"/>
            <a:ext cx="914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600"/>
              </a:spcAft>
            </a:pPr>
            <a:r>
              <a:rPr sz="1100" b="0">
                <a:solidFill>
                  <a:srgbClr val="9FB4AE"/>
                </a:solidFill>
                <a:latin typeface="Segoe UI"/>
              </a:rPr>
              <a:t>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53437" y="1655064"/>
            <a:ext cx="4859684" cy="226771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18-inicio-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0013" y="1691640"/>
            <a:ext cx="4786532" cy="219456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7262487" y="1655064"/>
            <a:ext cx="3397264" cy="226771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17-crear-publicac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99063" y="1691640"/>
            <a:ext cx="3324112" cy="219456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461276" y="3986784"/>
            <a:ext cx="3844007" cy="226771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12-contenedor-cha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97852" y="4023360"/>
            <a:ext cx="3770855" cy="2194560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7284581" y="3986784"/>
            <a:ext cx="3353076" cy="2267712"/>
          </a:xfrm>
          <a:prstGeom prst="roundRect">
            <a:avLst>
              <a:gd name="adj" fmla="val 3000"/>
            </a:avLst>
          </a:prstGeom>
          <a:noFill/>
          <a:ln w="12700">
            <a:solidFill>
              <a:srgbClr val="1F6F5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15-ventana-nuev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21157" y="4023360"/>
            <a:ext cx="3279924" cy="219456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41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3FC19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875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500" b="1">
                <a:solidFill>
                  <a:srgbClr val="3FC19F"/>
                </a:solidFill>
                <a:latin typeface="Segoe UI"/>
              </a:rPr>
              <a:t>AWTY  ·  «are we there yet?»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5400" b="1">
                <a:solidFill>
                  <a:srgbClr val="F2F7F5"/>
                </a:solidFill>
                <a:latin typeface="Segoe UI Semibold"/>
              </a:rPr>
              <a:t>¿Ya estamos ahí?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3063240"/>
            <a:ext cx="969264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9FB4AE"/>
                </a:solidFill>
                <a:latin typeface="Segoe UI"/>
              </a:rPr>
              <a:t>Este proyecto se hizo para estudiantes que no tienen dinero suficiente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FB4AE"/>
                </a:solidFill>
                <a:latin typeface="Segoe UI"/>
              </a:rPr>
              <a:t>para cambiar su equipo y necesitan herramientas demandantes.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FB4AE"/>
                </a:solidFill>
                <a:latin typeface="Segoe UI"/>
              </a:rPr>
              <a:t>No es solo para hoy: lleva la filosofía de Linux,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9FB4AE"/>
                </a:solidFill>
                <a:latin typeface="Segoe UI"/>
              </a:rPr>
              <a:t>de la comunidad para la comunidad.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5257800"/>
            <a:ext cx="98755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3FC19F"/>
                </a:solidFill>
                <a:latin typeface="Segoe UI"/>
              </a:rPr>
              <a:t>Francisco González  ·  Virthub 2.0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3FC19F"/>
                </a:solidFill>
                <a:latin typeface="Segoe UI"/>
              </a:rPr>
              <a:t>Universidad Tecnológica de Tecámac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